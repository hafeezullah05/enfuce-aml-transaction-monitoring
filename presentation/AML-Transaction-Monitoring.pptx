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 PR-AUC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1C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spw = 1
(shipped)</c:v>
                  </c:pt>
                  <c:pt idx="1">
                    <c:v>spw = 5</c:v>
                  </c:pt>
                  <c:pt idx="2">
                    <c:v>spw = 100</c:v>
                  </c:pt>
                  <c:pt idx="3">
                    <c:v>spw = 1003
(naive neg/pos)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0.68</c:v>
                </c:pt>
                <c:pt idx="1">
                  <c:v>0.68</c:v>
                </c:pt>
                <c:pt idx="2">
                  <c:v>0.59</c:v>
                </c:pt>
                <c:pt idx="3">
                  <c:v>0.008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41C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41C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00A896"/>
            </a:solidFill>
            <a:ln w="38100" cap="flat">
              <a:solidFill>
                <a:srgbClr val="00A89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A896"/>
              </a:solidFill>
              <a:ln w="9525" cap="flat">
                <a:solidFill>
                  <a:srgbClr val="00A89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29</c:v>
                  </c:pt>
                  <c:pt idx="1">
                    <c:v>58</c:v>
                  </c:pt>
                  <c:pt idx="2">
                    <c:v>144</c:v>
                  </c:pt>
                  <c:pt idx="3">
                    <c:v>289</c:v>
                  </c:pt>
                  <c:pt idx="4">
                    <c:v>405</c:v>
                  </c:pt>
                  <c:pt idx="5">
                    <c:v>577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0.49</c:v>
                </c:pt>
                <c:pt idx="1">
                  <c:v>0.59</c:v>
                </c:pt>
                <c:pt idx="2">
                  <c:v>0.67</c:v>
                </c:pt>
                <c:pt idx="3">
                  <c:v>0.74</c:v>
                </c:pt>
                <c:pt idx="4">
                  <c:v>0.77</c:v>
                </c:pt>
                <c:pt idx="5">
                  <c:v>0.8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alerts / day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D8DE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recall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 @ 1% budget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1C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Smurfing</c:v>
                  </c:pt>
                  <c:pt idx="1">
                    <c:v>Cash Withdrawal</c:v>
                  </c:pt>
                  <c:pt idx="2">
                    <c:v>Structuring</c:v>
                  </c:pt>
                  <c:pt idx="3">
                    <c:v>Cycle</c:v>
                  </c:pt>
                  <c:pt idx="4">
                    <c:v>Deposit-Send</c:v>
                  </c:pt>
                  <c:pt idx="5">
                    <c:v>Bipartite</c:v>
                  </c:pt>
                  <c:pt idx="6">
                    <c:v>Layered Fan-Out</c:v>
                  </c:pt>
                  <c:pt idx="7">
                    <c:v>Fan-Out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</c:v>
                </c:pt>
                <c:pt idx="1">
                  <c:v>0.97</c:v>
                </c:pt>
                <c:pt idx="2">
                  <c:v>0.79</c:v>
                </c:pt>
                <c:pt idx="3">
                  <c:v>0.71</c:v>
                </c:pt>
                <c:pt idx="4">
                  <c:v>0.7</c:v>
                </c:pt>
                <c:pt idx="5">
                  <c:v>0.65</c:v>
                </c:pt>
                <c:pt idx="6">
                  <c:v>0.63</c:v>
                </c:pt>
                <c:pt idx="7">
                  <c:v>0.6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000" u="none">
                  <a:solidFill>
                    <a:srgbClr val="141C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41C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Parts 1 &amp; 2 built end-to-end; 3 &amp; 4 are design. Focus: production readiness and the reasoning behind each choice, not model 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monitoring model creates human work; the right metric is recall at a workload. That framing drives features, imbalance handling, and metrics.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9.5M transactions, laundering is 1 in 1000. Two design drivers: per-transaction labels, and the natural monthly batching.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maps the brief to the next six. Walk it fast, then go deep on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Preprocessing is minimal for the tree by design. The heavy prep (scaling, one-hot) is only for the linear baseline. NaN in entity features is meaningful, not missing.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Cheap features carry some signal (cross-border 2.5x). Real signal: a transaction 30x the account's 7-day average. Leakage enforced by closed='left' + a unit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slide I most want to discuss. Ran the sweep. Weighting by the imbalance ratio makes it 80x worse. Model already ranks well; weighting just reorders the queue badly.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Random split = leakage + hides decay. Account-grouped k-fold still mixes time. Validation = June, threshold only. Test = Jul/Aug, touched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ROC-AUC 0.98 and meaningless with 1000:1. F1/accuracy need a 0.5 cut we never use. PR-AUC is the honest summary. The val-&gt;test drop bridges to Part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~400 alerts/day, ~22 real, catches 3/4 of laundering. Tighten -&gt; precision up, recall down. My job is to hand them the curve, not pick the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Per-typology recall tells investigators what to trust. Strong on structuring/smurfing, weak on fan-out (graph structure). Graph features are top of future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decays — slides 9-10 proved it. Lifecycle runs on proxy signals because true labels (SARs) lag months. Demonstrated: monitoring + trigger + challenger promotion, run on the Jul-Aug batches.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Cheapest signal first, compared to a reference snapshot versioned with the model. Two findings: real prediction drift (alert-rate breach), and a feature bug (unbounded counters). The second is what you deploy monitoring to catch.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retrain recovers the lost performance — PR-AUC back to 0.69 on August. But a human signs off before it goes live: regulated control. Rollback is symmetric — move the alias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to the flow left to right. Validation upstream of scoring — a broken feed is the #1 cause of 'model failure'. Registry is the control point. Immutable raw = reproducibility.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choice biased toward less operational burden for a small team. Name the alternative and the condition under which I'd switch (EKS if the org already runs k8s; Feature Store if a real-time path appears).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Reliability first, sophistication last — the opposite of the instinct. Shadow before parallel before retirement. Each stage has an exit criterion (SLA met 4 weeks; 2 automated retrains; etc.).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Treated it as alerting, made every choice with investigator workload in mind, tested each against an alternative. 77% at 400 alerts/day, and it decays — which is what Part 2 is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645920"/>
            <a:ext cx="5486400" cy="5486400"/>
          </a:xfrm>
          <a:prstGeom prst="ellipse">
            <a:avLst/>
          </a:prstGeom>
          <a:solidFill>
            <a:srgbClr val="141C33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3108960" cy="3108960"/>
          </a:xfrm>
          <a:prstGeom prst="ellipse">
            <a:avLst/>
          </a:prstGeom>
          <a:solidFill>
            <a:srgbClr val="22305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28600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AML Transaction Monitoring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38328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ML-engineering approach to detecting suspicious activity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394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Hafeez Ullah   ·   Enfuce technical case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457200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alerting system, not a classifier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6492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does not decide yes/no — it produces a ranked queue of work for investigators, who have finite daily capacity</a:t>
            </a:r>
            <a:endParaRPr lang="en-US" sz="15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choice judged against one question: within the daily alert budget, how much laundering do we catch vs. how many alerts are wasted?</a:t>
            </a:r>
            <a:endParaRPr lang="en-US" sz="15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I optimise ranking quality and choose the operating point separately — not a fixed 0.5 cut-off</a:t>
            </a:r>
            <a:endParaRPr lang="en-US" sz="15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production seams in place: pipeline as a package, decisions as ADRs, MLflow tracking + model registry from the first run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06640" y="2011680"/>
            <a:ext cx="4206240" cy="3108960"/>
          </a:xfrm>
          <a:prstGeom prst="roundRect">
            <a:avLst>
              <a:gd name="adj" fmla="val 1765"/>
            </a:avLst>
          </a:prstGeom>
          <a:solidFill>
            <a:srgbClr val="F4F7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0" y="233172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“Recall at a fixed</a:t>
            </a:r>
            <a:endParaRPr lang="en-US" sz="2100" dirty="0"/>
          </a:p>
          <a:p>
            <a:pPr indent="0" marL="0">
              <a:buNone/>
            </a:pPr>
            <a:r>
              <a:rPr lang="en-US" sz="21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investigator workload”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7680960" y="37947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objective. Not accuracy,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F1, not a single number.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457200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SAML-D — synthetic transaction data over time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9.5M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80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· Oct 2022 – Aug 2023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343400" y="20116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0.10%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343400" y="2880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laundering · 1 in ~960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20116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28803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files = ready-made batches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6576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Prevalence stable, with a slight upward drift (0.10% → 0.13%) — itself a monitoring signal</a:t>
            </a:r>
            <a:endParaRPr lang="en-US" sz="15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are per-transaction: an account that launders looks normal in ~99% of its transactions — so we score transactions, not accounts</a:t>
            </a:r>
            <a:endParaRPr lang="en-US" sz="15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data, 293k sender accounts, 90% recurring — enough history for behavioural features</a:t>
            </a:r>
            <a:endParaRPr lang="en-US" sz="15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named laundering typologies (Structuring, Fan-Out, Cycle, …) — used for error analysis, never as a feature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457200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brief's five asks — how each is addressed</a:t>
            </a:r>
            <a:endParaRPr lang="en-US" sz="2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383280"/>
                <a:gridCol w="51206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reason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Preprocessing &amp; features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 preprocessing + causal entity features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Trees need little prep; behaviour is where the signal 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imbalance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Cost-weighting ≈ off; handle at the threshold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sweep shows heavy re-weighting collapses PR-AUC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/ val / test split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Temporal, by calendar month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split leaks an account's future behaviour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 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PR-AUC + alerts-per-day at a fixed budget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 is ~0.98 even for weak models at 0.1%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 vs. alert load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 the whole recall / workload curve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operating point is the team's decision, not the model's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is a one-page ADR in the repo (Context / Decision / Consequences / Rejected alternatives).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457200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— deliberately minimal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303520" cy="2697480"/>
          </a:xfrm>
          <a:prstGeom prst="roundRect">
            <a:avLst>
              <a:gd name="adj" fmla="val 2034"/>
            </a:avLst>
          </a:prstGeom>
          <a:solidFill>
            <a:srgbClr val="F4F7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11226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on load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1460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explicit dtypes — schema intent in code, half the memory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one timestamp from Date + Time; global sort by time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 missing values in the raw data → no imputation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the only NaN is an entity feature on an account's first-ever transaction — it means “no history”, not “missing”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965960"/>
            <a:ext cx="5303520" cy="269748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0" y="211226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Differs by model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51460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LightGBM: categoricals kept as native category dtype — no one-hot; trees are scale-invariant, so no scaling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(LogReg): median-impute → standardise → one-hot — linear models require it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93776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log1p(amount) is the one transform kept for the tree — purely for readable feature importance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target encoding, no PCA — they add leakage surface and opacity for no measurable gain here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457200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 — behaviour is the signal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394960" cy="1554480"/>
          </a:xfrm>
          <a:prstGeom prst="roundRect">
            <a:avLst>
              <a:gd name="adj" fmla="val 3529"/>
            </a:avLst>
          </a:prstGeom>
          <a:solidFill>
            <a:srgbClr val="F4F7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06654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Transaction-level  (single row, no leakage risk)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688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log-amount · amount bands · cross-border · currency-mismatch · hour · weekday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920240"/>
            <a:ext cx="5577840" cy="1554480"/>
          </a:xfrm>
          <a:prstGeom prst="roundRect">
            <a:avLst>
              <a:gd name="adj" fmla="val 3529"/>
            </a:avLst>
          </a:prstGeom>
          <a:solidFill>
            <a:srgbClr val="F4F7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206654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Entity-level  (causal, per sender &amp; receiver)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46888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txn count · time since last txn · trailing 1d / 7d / 30d counts · trailing 7d sum &amp; mean · amount vs. the account's recent norm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79476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chosen for meaning: 1d catches bursts · 7d the account's rhythm · 30d its baseline</a:t>
            </a:r>
            <a:endParaRPr lang="en-US" sz="13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prevention: global time-sort → rolling windows closed="left" (current row excluded) → a unit test asserts an account's first transaction sees an empty history</a:t>
            </a:r>
            <a:endParaRPr lang="en-US" sz="13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on purpose: account IDs (identifiers, not behaviour) and Laundering_type (target-derived)</a:t>
            </a:r>
            <a:endParaRPr lang="en-US" sz="13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is dominated by the entity-history features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457200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class imbalance — a threshold problem</a:t>
            </a:r>
            <a:endParaRPr lang="en-US" sz="2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965960"/>
          <a:ext cx="5943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675120" y="1965960"/>
            <a:ext cx="49377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options weighed: resample (SMOTE / undersample) · cost-weight the loss · leave the loss alone and move the threshold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“obvious” cost-weight — the ~1000x imbalance ratio — collapses PR-AUC below the linear baseline (0.012): it floods the alert queue with borderline negatives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barely moves (0.86 → 0.99) → wrong metric to steer by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rejected: interpolating categorical + count features invents impossible rows and has no place in a time-ordered split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457200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THE DATA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Splitting train / validation / test — strictly by time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950976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3072384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554480" y="2148840"/>
            <a:ext cx="950976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54480" y="3072384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0" y="2148840"/>
            <a:ext cx="950976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560320" y="3072384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66160" y="2148840"/>
            <a:ext cx="950976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66160" y="3072384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2148840"/>
            <a:ext cx="950976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0" y="3072384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77840" y="2148840"/>
            <a:ext cx="950976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577840" y="3072384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83680" y="2148840"/>
            <a:ext cx="950976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83680" y="3072384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589520" y="2148840"/>
            <a:ext cx="950976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589520" y="3072384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595360" y="2148840"/>
            <a:ext cx="950976" cy="8686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595360" y="3072384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601200" y="2148840"/>
            <a:ext cx="950976" cy="8686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601200" y="3072384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607040" y="2148840"/>
            <a:ext cx="950976" cy="8686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607040" y="3072384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3520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 8 months</a:t>
            </a:r>
            <a:pPr indent="0" marL="0">
              <a:buNone/>
            </a:pPr>
            <a:r>
              <a:rPr lang="en-US" sz="11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VALIDATION  Jun — threshold selection only</a:t>
            </a:r>
            <a:pPr indent="0" marL="0">
              <a:buNone/>
            </a:pPr>
            <a:r>
              <a:rPr lang="en-US" sz="11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TEST  Jul–Aug — touched once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41148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shuffling — a random split lets August behaviour inform an October prediction; that inflates the score and hides model decay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alternative: account-grouped k-fold — removes account leakage but still mixes time periods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Encoders and entity features are fit on the training window only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features are computed over the full timeline before splitting, so val / test rows carry real history — exactly as at inference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457200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metric — and the reasoning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6400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/ F1 rejected: a fixed 0.5 threshold is meaningless when we alert on the top 1%</a:t>
            </a:r>
            <a:endParaRPr lang="en-US" sz="13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rejected as the headline: dominated by millions of easy negatives — ~0.98 even for a weak model</a:t>
            </a:r>
            <a:endParaRPr lang="en-US" sz="13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(average precision): threshold-free, and only rewards precision on the positives — what an alert list lives on</a:t>
            </a:r>
            <a:endParaRPr lang="en-US" sz="13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Alongside it, threshold-specific numbers: precision, recall, and alerts-per-day at a chosen budget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2103120"/>
          <a:ext cx="42976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188720"/>
                <a:gridCol w="11887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A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(Jun)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(Jul–Aug)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7315200" y="397764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 → 0.54 in two months = real model decay → Part 2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457200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VS. ALERTS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Detecting suspicious activity vs. unnecessary alerts</a:t>
            </a:r>
            <a:endParaRPr lang="en-US" sz="2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965960"/>
          <a:ext cx="62179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949440" y="2057400"/>
            <a:ext cx="4663440" cy="2148840"/>
          </a:xfrm>
          <a:prstGeom prst="roundRect">
            <a:avLst>
              <a:gd name="adj" fmla="val 2553"/>
            </a:avLst>
          </a:prstGeom>
          <a:solidFill>
            <a:srgbClr val="F4F7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223760" y="220370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operating point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223760" y="2606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~405 alerts/day  ·  precision 6.4%  ·  recall 77%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223760" y="30175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fixed on validation at the 1% budget, applied to test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949440" y="4389120"/>
            <a:ext cx="46634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 on this curve is a capacity + risk-appetite decision for the investigations team — not a modelling choice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framing: regulator sets a minimum recall; capacity sets the budget; model quality decides if both can be met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rate crept 1.0% → 1.4% as scores drifted — fixed threshold, moving target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457200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recall comes from — and honest limits</a:t>
            </a:r>
            <a:endParaRPr lang="en-US" sz="2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920240"/>
          <a:ext cx="60350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858000" y="19202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where behaviour is the signal.  Weak on graph-structure patterns — no graph features yet.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858000" y="3108960"/>
            <a:ext cx="47548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graph features → weak on fan-out / bipartite (top of the backlog)</a:t>
            </a:r>
            <a:endParaRPr lang="en-US" sz="12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decays measurably over ~2 months</a:t>
            </a:r>
            <a:endParaRPr lang="en-US" sz="12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Synthetic, instant labels — real SAR outcomes lag by months</a:t>
            </a:r>
            <a:endParaRPr lang="en-US" sz="12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global threshold — a per-corridor threshold would likely lift recall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457200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LIFECYCLE &amp; MLOPS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Operating the model — the lifecycle loop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31824" cy="1051560"/>
          </a:xfrm>
          <a:prstGeom prst="roundRect">
            <a:avLst>
              <a:gd name="adj" fmla="val 4348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965960"/>
            <a:ext cx="1131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790192" y="1965960"/>
            <a:ext cx="1131824" cy="1051560"/>
          </a:xfrm>
          <a:prstGeom prst="roundRect">
            <a:avLst>
              <a:gd name="adj" fmla="val 4348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790192" y="1965960"/>
            <a:ext cx="1131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031744" y="1965960"/>
            <a:ext cx="1131824" cy="1051560"/>
          </a:xfrm>
          <a:prstGeom prst="roundRect">
            <a:avLst>
              <a:gd name="adj" fmla="val 4348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031744" y="1965960"/>
            <a:ext cx="1131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73296" y="1965960"/>
            <a:ext cx="1131824" cy="1051560"/>
          </a:xfrm>
          <a:prstGeom prst="roundRect">
            <a:avLst>
              <a:gd name="adj" fmla="val 4348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273296" y="1965960"/>
            <a:ext cx="1131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514848" y="1965960"/>
            <a:ext cx="1131824" cy="1051560"/>
          </a:xfrm>
          <a:prstGeom prst="roundRect">
            <a:avLst>
              <a:gd name="adj" fmla="val 4348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514848" y="1965960"/>
            <a:ext cx="1131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756400" y="1965960"/>
            <a:ext cx="1131824" cy="1051560"/>
          </a:xfrm>
          <a:prstGeom prst="roundRect">
            <a:avLst>
              <a:gd name="adj" fmla="val 4348"/>
            </a:avLst>
          </a:prstGeom>
          <a:solidFill>
            <a:srgbClr val="00A89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56400" y="1965960"/>
            <a:ext cx="1131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997952" y="1965960"/>
            <a:ext cx="1131824" cy="1051560"/>
          </a:xfrm>
          <a:prstGeom prst="roundRect">
            <a:avLst>
              <a:gd name="adj" fmla="val 4348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997952" y="1965960"/>
            <a:ext cx="1131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(rolling)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239504" y="1965960"/>
            <a:ext cx="1131824" cy="1051560"/>
          </a:xfrm>
          <a:prstGeom prst="roundRect">
            <a:avLst>
              <a:gd name="adj" fmla="val 4348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39504" y="1965960"/>
            <a:ext cx="1131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shadow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0481056" y="1965960"/>
            <a:ext cx="1131824" cy="1051560"/>
          </a:xfrm>
          <a:prstGeom prst="roundRect">
            <a:avLst>
              <a:gd name="adj" fmla="val 4348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481056" y="1965960"/>
            <a:ext cx="1131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+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291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showed the model decays:  PR-AUC 0.68 → 0.54,  alert rate 1.0% → 1.4%,  in two months.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3840480"/>
            <a:ext cx="5486400" cy="1737360"/>
          </a:xfrm>
          <a:prstGeom prst="roundRect">
            <a:avLst>
              <a:gd name="adj" fmla="val 3158"/>
            </a:avLst>
          </a:prstGeom>
          <a:solidFill>
            <a:srgbClr val="F4F7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" y="398678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(built, run on Jul–Aug)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43434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on every batch  ·  a codified retraining trigger  ·  rolling-window retrain + challenger + gated promotion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09360" y="3840480"/>
            <a:ext cx="530352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83680" y="398678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6583680" y="434340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mechanics (MLflow @champion/@challenger aliases)  ·  shadow deployment  ·  delayed &amp; biased labels + reservoir sampling  ·  feature-store parity  ·  governance &amp; audit  ·  incident response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457200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LIFECYCLE &amp; MLOPS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every batch — and what it caught</a:t>
            </a:r>
            <a:endParaRPr lang="en-US" sz="2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64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114800"/>
                <a:gridCol w="50292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the Jul–Aug replay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quality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vs. norm · nulls · unseen categories · schema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flagged the final partial batch (8k vs 30k rows) → metrics gated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drift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PSI per feature vs. the training snapshot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(max ≈ 0.13) — except two unbounded counter features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Prediction drift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distribution · alert rate at the fixed threshold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rate drifts 1.2% → 1.7%, breaches the band from Aug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Delayed performance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/ recall once labels arrive (weeks–months)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7.4% → 5.5%,  recall 80% → 72%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029200"/>
            <a:ext cx="11064240" cy="1463040"/>
          </a:xfrm>
          <a:prstGeom prst="roundRect">
            <a:avLst>
              <a:gd name="adj" fmla="val 3750"/>
            </a:avLst>
          </a:prstGeom>
          <a:solidFill>
            <a:srgbClr val="F4F7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5175504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input-drift alarm surfaced a feature-design issue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5532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/ receiver_prior_txn_count are unbounded cumulative counters — PSI climbs to 1.4 as calendar time passes, regardless of behaviour. Tagged as known drift, excluded from the alarm, backlogged as a Part 1 fix (cap or window them). Monitoring doing its job.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457200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LIFECYCLE &amp; MLOPS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Trigger → retrain → challenger → gated promotion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6400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fired 3 Aug — reasons: scheduled monthly floor + alert-rate drift for 3 consecutive days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Retrained on a rolling 8-month window (Dec 2022 – Jul 2023) — track current behaviour, not all history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model is a challenger: judged on the most recent labelled slice (August), never promoted automatically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2103120"/>
          <a:ext cx="4297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097280"/>
                <a:gridCol w="10972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August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A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champion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PR-AUC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@ 1% budget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297680"/>
            <a:ext cx="11064240" cy="1737360"/>
          </a:xfrm>
          <a:prstGeom prst="roundRect">
            <a:avLst>
              <a:gd name="adj" fmla="val 3158"/>
            </a:avLst>
          </a:prstGeom>
          <a:solidFill>
            <a:srgbClr val="F4F7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4443984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is a registry operation, not a deploy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8006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challenger beats champion → registered, alias set to @challenger → awaits model-owner + compliance sign-off → takes @champion.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only ever asks for @champion, so promotion and rollback are one alias move. Previous version stays loadable.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457200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ARCHITECTURE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daily batch pipeline on AWS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691640" cy="11430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19456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raw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(immutable)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2203704" y="2194560"/>
            <a:ext cx="2560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23160" y="2194560"/>
            <a:ext cx="1691640" cy="11430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423160" y="219456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 / Deequ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078224" y="2194560"/>
            <a:ext cx="2560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97680" y="2194560"/>
            <a:ext cx="1691640" cy="11430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297680" y="219456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/ EMR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5952744" y="2194560"/>
            <a:ext cx="2560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2200" y="2194560"/>
            <a:ext cx="1691640" cy="11430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72200" y="219456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7827264" y="2194560"/>
            <a:ext cx="2560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46720" y="2194560"/>
            <a:ext cx="1691640" cy="11430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46720" y="219456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+ alert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/ SQS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9701784" y="2194560"/>
            <a:ext cx="2560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921240" y="2194560"/>
            <a:ext cx="1691640" cy="11430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921240" y="219456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Evidently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657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Orchestration: Step Functions (daily) + a second state machine for retrain → shadow → promote        ·        MLflow registry on Fargate        ·        Terraform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20624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Batch, not streaming — the label and the workflow are both post-event; there is no real-time decision. Add streaming only for a specific high-risk corridor if the business needs faster interdiction.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MLflow registry is the single control point — scoring loads "the Production model", never a path. Rollback = revert the stage and re-score.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zone is immutable and date-partitioned → any past batch can be re-scored with any model version.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457200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ARCHITECTURE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choices — the trade-offs</a:t>
            </a:r>
            <a:endParaRPr lang="en-US" sz="2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468880"/>
                <a:gridCol w="2468880"/>
                <a:gridCol w="41148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this way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batch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Post-event problem; batch is simpler, no train/serve skew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SageMaker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EKS + Kubeflow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Managed, minimal ops for a small team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MLflow (self-hosted)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SageMaker Model Registry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tool for tracking + registry; portable; team standard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compute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Glue / EMR Serverless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 on a big box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Scales past 10x volume; serverless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storage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table + shared code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SageMaker Feature Store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Batch-only — parity without the infrastructure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management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a UI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C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the differentiation; fits investigator workflow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457200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PoC → production over 3 / 6 / 9 months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Principle: reliability → automation → sophistication. It's a regulated control — the risks are operational, not modelling. Model never hard-replaces the rules engine; shadow → parallel → staged retirement.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3505200" cy="3383280"/>
          </a:xfrm>
          <a:prstGeom prst="roundRect">
            <a:avLst>
              <a:gd name="adj" fmla="val 1622"/>
            </a:avLst>
          </a:prstGeom>
          <a:solidFill>
            <a:srgbClr val="F4F7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743200"/>
            <a:ext cx="304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 mo — make it trustworthy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200400"/>
            <a:ext cx="3048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pipeline + data validation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model, fully monitored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mode — action nothing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agreed with compliance</a:t>
            </a:r>
            <a:endParaRPr lang="en-US" sz="105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0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operate or get sign-off for a control you can't see.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28160" y="2560320"/>
            <a:ext cx="3505200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56760" y="2743200"/>
            <a:ext cx="304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mo — make it self-sustaining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556760" y="3200400"/>
            <a:ext cx="3048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retraining + challengers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 feedback loop for labels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Reservoir sampling for unbiased recall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 PARALLEL with rules</a:t>
            </a:r>
            <a:endParaRPr lang="en-US" sz="105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0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lag is months — the feedback loop must start early.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07680" y="2560320"/>
            <a:ext cx="3505200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36280" y="2743200"/>
            <a:ext cx="304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6–9 mo — make it better + auditable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336280" y="3200400"/>
            <a:ext cx="3048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features / typology models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Per-corridor thresholds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model cards, annual validation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rules retirement</a:t>
            </a:r>
            <a:endParaRPr lang="en-US" sz="105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0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Lowest-risk work — only after the foundations hold.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023360"/>
            <a:ext cx="5029200" cy="5029200"/>
          </a:xfrm>
          <a:prstGeom prst="ellipse">
            <a:avLst/>
          </a:prstGeom>
          <a:solidFill>
            <a:srgbClr val="141C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I'd want you to take away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7589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Framed as alerting, not classification — recall at a fixed workload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features, temporal split, imbalance as a threshold problem — each choice tested against an alternative, not asserted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decays measurably in 2 months — Part 2 makes that operable</a:t>
            </a:r>
            <a:endParaRPr lang="en-US" sz="15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seams already in place: package, ADRs, MLflow, registry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5720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77%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55778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laundering caught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~400 alerts / day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2026-09-01T17:22:50Z</dcterms:created>
  <dcterms:modified xsi:type="dcterms:W3CDTF">2026-09-01T17:22:50Z</dcterms:modified>
</cp:coreProperties>
</file>