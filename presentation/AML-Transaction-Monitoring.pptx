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258"/>
    <p:restoredTop sz="94610"/>
  </p:normalViewPr>
  <p:slideViewPr>
    <p:cSldViewPr snapToGrid="0" snapToObjects="1">
      <p:cViewPr varScale="1">
        <p:scale>
          <a:sx n="104" d="100"/>
          <a:sy n="104" d="100"/>
        </p:scale>
        <p:origin x="232" y="16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lineChart>
        <c:grouping val="standard"/>
        <c:varyColors val="0"/>
        <c:ser>
          <c:idx val="0"/>
          <c:order val="0"/>
          <c:tx>
            <c:strRef>
              <c:f>Sheet1!$B$1</c:f>
              <c:strCache>
                <c:ptCount val="1"/>
                <c:pt idx="0">
                  <c:v>recall</c:v>
                </c:pt>
              </c:strCache>
            </c:strRef>
          </c:tx>
          <c:spPr>
            <a:ln w="38100" cap="flat">
              <a:solidFill>
                <a:srgbClr val="F0523C"/>
              </a:solidFill>
              <a:prstDash val="solid"/>
              <a:round/>
            </a:ln>
            <a:effectLst/>
          </c:spPr>
          <c:marker>
            <c:symbol val="circle"/>
            <c:size val="6"/>
            <c:spPr>
              <a:solidFill>
                <a:srgbClr val="F0523C"/>
              </a:solidFill>
              <a:ln w="9525" cap="flat">
                <a:solidFill>
                  <a:srgbClr val="F0523C"/>
                </a:solidFill>
                <a:prstDash val="solid"/>
                <a:round/>
              </a:ln>
              <a:effectLst/>
            </c:spPr>
          </c:marker>
          <c:cat>
            <c:strRef>
              <c:f>Sheet1!$A$2:$A$7</c:f>
              <c:strCache>
                <c:ptCount val="6"/>
                <c:pt idx="0">
                  <c:v>29</c:v>
                </c:pt>
                <c:pt idx="1">
                  <c:v>58</c:v>
                </c:pt>
                <c:pt idx="2">
                  <c:v>144</c:v>
                </c:pt>
                <c:pt idx="3">
                  <c:v>289</c:v>
                </c:pt>
                <c:pt idx="4">
                  <c:v>405</c:v>
                </c:pt>
                <c:pt idx="5">
                  <c:v>577</c:v>
                </c:pt>
              </c:strCache>
            </c:strRef>
          </c:cat>
          <c:val>
            <c:numRef>
              <c:f>Sheet1!$B$2:$B$7</c:f>
              <c:numCache>
                <c:formatCode>General</c:formatCode>
                <c:ptCount val="6"/>
                <c:pt idx="0">
                  <c:v>0.49</c:v>
                </c:pt>
                <c:pt idx="1">
                  <c:v>0.59</c:v>
                </c:pt>
                <c:pt idx="2">
                  <c:v>0.67</c:v>
                </c:pt>
                <c:pt idx="3">
                  <c:v>0.74</c:v>
                </c:pt>
                <c:pt idx="4">
                  <c:v>0.77</c:v>
                </c:pt>
                <c:pt idx="5">
                  <c:v>0.8</c:v>
                </c:pt>
              </c:numCache>
            </c:numRef>
          </c:val>
          <c:smooth val="0"/>
          <c:extLst>
            <c:ext xmlns:c16="http://schemas.microsoft.com/office/drawing/2014/chart" uri="{C3380CC4-5D6E-409C-BE32-E72D297353CC}">
              <c16:uniqueId val="{00000000-5C5C-7943-A47E-C06D54A894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b="0" i="0" u="none" strike="noStrike">
                    <a:solidFill>
                      <a:srgbClr val="000000"/>
                    </a:solidFill>
                    <a:latin typeface="Arial"/>
                  </a:defRPr>
                </a:pPr>
                <a:r>
                  <a:rPr lang="en-GB" b="0" i="0" u="none" strike="noStrike">
                    <a:solidFill>
                      <a:srgbClr val="000000"/>
                    </a:solidFill>
                    <a:latin typeface="Arial"/>
                  </a:rPr>
                  <a:t>alerts per day</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12700" cap="flat">
              <a:solidFill>
                <a:srgbClr val="E4E1DF"/>
              </a:solidFill>
              <a:prstDash val="solid"/>
              <a:round/>
            </a:ln>
          </c:spPr>
        </c:majorGridlines>
        <c:title>
          <c:tx>
            <c:rich>
              <a:bodyPr/>
              <a:lstStyle/>
              <a:p>
                <a:pPr>
                  <a:defRPr b="0" i="0" u="none" strike="noStrike">
                    <a:solidFill>
                      <a:srgbClr val="000000"/>
                    </a:solidFill>
                    <a:latin typeface="Arial"/>
                  </a:defRPr>
                </a:pPr>
                <a:r>
                  <a:rPr lang="en-GB" b="0" i="0" u="none" strike="noStrike">
                    <a:solidFill>
                      <a:srgbClr val="000000"/>
                    </a:solidFill>
                    <a:latin typeface="Arial"/>
                  </a:rPr>
                  <a:t>recall</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0250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Thanks for the time. I will walk through a transaction-monitoring solution: the model and how I evaluated it, how I would operate it, the architecture, and a delivery plan. Parts 1 and 2 are built end to end, Parts 3 and 4 are design. Throughout, the focus is production readiness and the reasoning behind each choice, which the brief asked for over model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State the problem precisely, because everything follows from it. Not a classifier, a ranker. Laundering is about 1 in 1000, investigators have fixed capacity. The question: within the alerts a team can review in a day, how much laundering do we catch for how much wasted effort. And I built it production-shaped from the start, which is what makes Part 2 possible.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9.5M transactions, laundering is about 1 in 1000. Two design drivers: the label is per-transaction, not per-account, so I score transactions; and the data already arrives in monthly files, which is my split unit and later my batch unit in Part 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EDA is the look-before-you-build step. Point at two or three rows: cross-border is a 2.5x lift, night and weekend flags were dropped for no signal, Laundering_type has disjoint value sets by class so it is a post-hoc label and using it would be leakage. The message: every feature choice traces to a number on this table.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This slide is a map, not an argument. Seven steps, left to right, and everything after this is a zoom into one of them. The table maps the brief's five asks onto the steps so you can see nothing was skipped. Keep this to fifteen seconds.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Fifteen seconds on this. Every decision the brief cares about is a one-page record in the repo, with the rejected alternative and the trade-off. I'm not going to read them; the next slides walk the important ones in detail. The point of the slide is that the reasoning is written down, which is what a regulator and a model validator both ask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Preprocessing is minimal for the tree by design. The heavy prep, scaling and one-hot, is only for the linear baseline. The NaN in the entity features is meaningful: it means the account has no history, not that a value is missing.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Two groups. Transaction-level features come from one row, so no leakage risk. Entity-level features describe how the account was behaving before this transaction. The corridor flags are cheap and interpretable but not load-bearing. The real signal is behavioural: a transaction many times the account's own recent norm. Windows are chosen for meaning, not tuned. And I deliberately exclude account IDs and Laundering_type.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This is the one place I would expect a deep dive. Every history feature answers a question about what happened before this transaction, enforced three ways: a global sort on load, closed-left on the rolling window, and cumcount for expanding counts. A unit test on a toy account locks it, so a future change cannot quietly reintroduce leakage.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Strictly by time. A random split is leakage and it hides decay. Account-grouped k-fold, the sensible-sounding alternative, still mixes time periods. Train is the first eight months, validation is June and is used only to pick the threshold, and test is July and August and is touched exactly once.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The slide I most want to discuss, because the obvious answer is wrong. This chart is not hand-made: it is read straight out of MLflow with </a:t>
            </a:r>
            <a:r>
              <a:rPr lang="en-US" dirty="0" err="1"/>
              <a:t>mlflow.search_runs</a:t>
            </a:r>
            <a:r>
              <a:rPr lang="en-US" dirty="0"/>
              <a:t> on the aml-part1 experiment, the five runs from one command. Weighting the positive class by the imbalance ratio makes PR-AUC about eighty times worse, below the linear baseline. The model already ranks well, so all the weighting does is push borderline negatives up the queue. Notice ROC-AUC barely moves, which previews why it is the wrong metric. I ship weight one and handle the real trade-off at the threshold.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What the model is, in one slide. Input is 26 features per transaction. The model is a few thousand tiny shallow trees, each a small correction to the last, summed. Output is one risk score, used to rank, never a standalone yes/no. Trees because the data is tabular with categoricals and skewed counts, it retrains fast, and it is explainable per alert. The logistic regression baseline at 0.012 proves the model is doing real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The job description names MLflow first, so I show it working. The table is five real runs. Point at the trees-used column: weight one learns over 1993 rounds, the naive weight collapses at two. Point at ROC-AUC barely moving while PR-AUC swings eighty times. On the right, one model is promoted; scoring asks for the champion alias, never a version, so promotion and rollback are one move. I can open the live UI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ROC-AUC sits at 0.98 and is meaningless at a thousand-to-one. Accuracy and F1 need a 0.5 cut we never use. PR-AUC is the honest summary. On the chart, the grey curve is validation, the coral curve is held-out test, and the dot is the operating point: the validation threshold carried over to test. The gap between the curves is the two-month decay, and that is the bridge to Part 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The threshold is fixed on validation and applied blind to test. That comes out to about 405 alerts a day, roughly 26 of them real, catching just over three-quarters of laundering. The curve is the recall-versus-workload trade-off at other budgets. My job is to hand the team the curve, not to pick the point. And the realised rate drifted to 1.4 percent, which is a Part 2 hook.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This slide answers 'can you explain a single decision'. SHAP decomposes one score into a base rate plus a signed push from each feature, and they sum exactly to the score. Walk the example: a cash withdrawal, the sending account dormant for nearly three months and only nineteen transactions old, moving money to an account with a hundred and thirty prior transactions. Those push the score up. One feature, the sender's zero transactions in the last week, pushes it down, and the grey bar shows it. The investigator sees this, not just a number. Same method aggregated gives the honest global picture. It is a regulatory requirement, not a nicety.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Per-typology recall tells the investigations team what to trust. The colour split is the point: ink where the model is strong, coral where it is weak. It is strong on the behavioural typologies, structuring and smurfing and cash withdrawal, and weak on the graph-structure ones, fan-out and bipartite, because I have no graph features yet. That is the top item on the backlog. Three other honest limits are on the right.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The model decays, the Part 1 evaluation proved it, so it has to be operated. The three box colours are three tiers: the daily pipeline, the monitoring step which is the focus, and the governed retrain-and-promote loop. The lifecycle runs on proxy signals because true labels lag months, and the feedback loop matters: investigator decisions on alerts are where tomorrow's labels come from. I built and ran the monitoring, the trigger, and challenger promotion on the July and August batches.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Four layers, cheapest first, each compared to a reference snapshot versioned with the model. The four panels are the real replay output. Top-left, the alert rate climbs out of the band in August. Two findings: real prediction drift, the alert-rate breach; and a feature bug, the unbounded counters whose drift is pure calendar time. The second is exactly what you deploy monitoring to catch.</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The trigger fired on 3 August for two reasons: the scheduled monthly floor and three days of alert-rate drift. I retrained on a rolling eight-month window, not all history, so the model tracks current behaviour. The chart: grey is the stale champion, coral the retrained challenger, judged on August. It clearly wins, PR-AUC 0.69 against 0.45. But it is not promoted automatically. A model owner and compliance sign off, then the alias moves. Rollback is the same move in reverse.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Talk to the flow left to right. Raw is immutable storage. Validation sits upstream of scoring because a broken feed is the number one cause of what looks like model failure. Scoring is the one coral box, the model step. The registry is the single control point, and immutable raw plus versioned models is reproducibility: any past batch, any model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Every choice is biased toward less operational burden for a small team. For each row I can name the alternative and the condition under which I would switch: EKS if the organisation already runs Kubernetes, a feature store if a real-time path appears, build the case-management UI only if an off-the-shelf one does not fit the investigator workflow.</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Reliability first, sophistication last, which is the opposite of the instinct. Shadow before parallel before retirement. Each stage has an exit criterion: the pipeline SLA met for four weeks, then two clean automated retrains, and so on. The feedback loop starts in phase two because label lag is months and it has to be running before the labels are needed.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To close: I treated it as alerting, not classification, and made every choice with investigator workload in mind, testing each against an alternative rather than asserting it. Every alert is explained. The headline is 77 percent of laundering caught at about 400 alerts a day, and it decays in two months, which is exactly what Part 2 is built for.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r>
              <a:rPr lang="en-US" dirty="0"/>
              <a:t>Thank you. Happy to go as deep as you like on any part of it: the imbalance sweep, the leakage handling, the monitoring, the architecture trade-offs, or the delivery plan.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9052560" y="-1737360"/>
            <a:ext cx="5486400" cy="5486400"/>
          </a:xfrm>
          <a:prstGeom prst="ellipse">
            <a:avLst/>
          </a:prstGeom>
          <a:solidFill>
            <a:srgbClr val="0F0F0F"/>
          </a:solidFill>
          <a:ln/>
        </p:spPr>
        <p:txBody>
          <a:bodyPr/>
          <a:lstStyle/>
          <a:p>
            <a:endParaRPr lang="en-DE"/>
          </a:p>
        </p:txBody>
      </p:sp>
      <p:sp>
        <p:nvSpPr>
          <p:cNvPr id="3" name="Shape 1"/>
          <p:cNvSpPr/>
          <p:nvPr/>
        </p:nvSpPr>
        <p:spPr>
          <a:xfrm>
            <a:off x="10607040" y="4572000"/>
            <a:ext cx="2743200" cy="2743200"/>
          </a:xfrm>
          <a:prstGeom prst="ellipse">
            <a:avLst/>
          </a:prstGeom>
          <a:solidFill>
            <a:srgbClr val="F0523C"/>
          </a:solidFill>
          <a:ln/>
        </p:spPr>
        <p:txBody>
          <a:bodyPr/>
          <a:lstStyle/>
          <a:p>
            <a:endParaRPr lang="en-DE"/>
          </a:p>
        </p:txBody>
      </p:sp>
      <p:sp>
        <p:nvSpPr>
          <p:cNvPr id="4" name="Text 2"/>
          <p:cNvSpPr txBox="1"/>
          <p:nvPr/>
        </p:nvSpPr>
        <p:spPr>
          <a:xfrm>
            <a:off x="548640" y="2148840"/>
            <a:ext cx="8412480" cy="1005840"/>
          </a:xfrm>
          <a:prstGeom prst="rect">
            <a:avLst/>
          </a:prstGeom>
          <a:noFill/>
          <a:ln/>
        </p:spPr>
        <p:txBody>
          <a:bodyPr wrap="square" lIns="0" tIns="0" rIns="0" bIns="0" rtlCol="0" anchor="ctr"/>
          <a:lstStyle/>
          <a:p>
            <a:pPr marL="0" indent="0">
              <a:buNone/>
            </a:pPr>
            <a:r>
              <a:rPr lang="en-US" sz="4200" b="1" dirty="0">
                <a:solidFill>
                  <a:srgbClr val="FFFFFF"/>
                </a:solidFill>
                <a:latin typeface="Arial" pitchFamily="34" charset="0"/>
                <a:ea typeface="Arial" pitchFamily="34" charset="-122"/>
                <a:cs typeface="Arial" pitchFamily="34" charset="-120"/>
              </a:rPr>
              <a:t>AML Transaction Monitoring</a:t>
            </a:r>
            <a:endParaRPr lang="en-US" sz="4200" dirty="0"/>
          </a:p>
        </p:txBody>
      </p:sp>
      <p:sp>
        <p:nvSpPr>
          <p:cNvPr id="5" name="Text 3"/>
          <p:cNvSpPr txBox="1"/>
          <p:nvPr/>
        </p:nvSpPr>
        <p:spPr>
          <a:xfrm>
            <a:off x="548640" y="3291840"/>
            <a:ext cx="8412480" cy="548640"/>
          </a:xfrm>
          <a:prstGeom prst="rect">
            <a:avLst/>
          </a:prstGeom>
          <a:noFill/>
          <a:ln/>
        </p:spPr>
        <p:txBody>
          <a:bodyPr wrap="square" lIns="0" tIns="0" rIns="0" bIns="0" rtlCol="0" anchor="ctr"/>
          <a:lstStyle/>
          <a:p>
            <a:pPr marL="0" indent="0">
              <a:buNone/>
            </a:pPr>
            <a:r>
              <a:rPr lang="en-US" sz="1600" dirty="0">
                <a:solidFill>
                  <a:srgbClr val="F6D9D2"/>
                </a:solidFill>
                <a:latin typeface="Calibri" pitchFamily="34" charset="0"/>
                <a:ea typeface="Calibri" pitchFamily="34" charset="-122"/>
                <a:cs typeface="Calibri" pitchFamily="34" charset="-120"/>
              </a:rPr>
              <a:t>Ranking transactions by laundering risk, within investigators' daily capacity</a:t>
            </a:r>
            <a:endParaRPr lang="en-US" sz="1600" dirty="0"/>
          </a:p>
        </p:txBody>
      </p:sp>
      <p:sp>
        <p:nvSpPr>
          <p:cNvPr id="6" name="Text 4"/>
          <p:cNvSpPr txBox="1"/>
          <p:nvPr/>
        </p:nvSpPr>
        <p:spPr>
          <a:xfrm>
            <a:off x="548640" y="4892040"/>
            <a:ext cx="5486400" cy="411480"/>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Hafeez Ullah</a:t>
            </a:r>
            <a:endParaRPr lang="en-US" sz="1700" dirty="0"/>
          </a:p>
        </p:txBody>
      </p:sp>
      <p:sp>
        <p:nvSpPr>
          <p:cNvPr id="7" name="Shape 5"/>
          <p:cNvSpPr/>
          <p:nvPr/>
        </p:nvSpPr>
        <p:spPr>
          <a:xfrm>
            <a:off x="576072" y="5413248"/>
            <a:ext cx="3108960" cy="0"/>
          </a:xfrm>
          <a:prstGeom prst="line">
            <a:avLst/>
          </a:prstGeom>
          <a:noFill/>
          <a:ln w="25400">
            <a:solidFill>
              <a:srgbClr val="F0523C"/>
            </a:solidFill>
            <a:prstDash val="solid"/>
          </a:ln>
        </p:spPr>
        <p:txBody>
          <a:bodyPr/>
          <a:lstStyle/>
          <a:p>
            <a:endParaRPr lang="en-DE"/>
          </a:p>
        </p:txBody>
      </p:sp>
      <p:sp>
        <p:nvSpPr>
          <p:cNvPr id="8" name="Text 6"/>
          <p:cNvSpPr txBox="1"/>
          <p:nvPr/>
        </p:nvSpPr>
        <p:spPr>
          <a:xfrm>
            <a:off x="548640" y="5532120"/>
            <a:ext cx="7315200" cy="365760"/>
          </a:xfrm>
          <a:prstGeom prst="rect">
            <a:avLst/>
          </a:prstGeom>
          <a:noFill/>
          <a:ln/>
        </p:spPr>
        <p:txBody>
          <a:bodyPr wrap="square" lIns="0" tIns="0" rIns="0" bIns="0" rtlCol="0" anchor="ctr"/>
          <a:lstStyle/>
          <a:p>
            <a:pPr marL="0" indent="0">
              <a:buNone/>
            </a:pPr>
            <a:r>
              <a:rPr lang="en-US" sz="1250" dirty="0">
                <a:solidFill>
                  <a:srgbClr val="6E6E6E"/>
                </a:solidFill>
                <a:latin typeface="Calibri" pitchFamily="34" charset="0"/>
                <a:ea typeface="Calibri" pitchFamily="34" charset="-122"/>
                <a:cs typeface="Calibri" pitchFamily="34" charset="-120"/>
              </a:rPr>
              <a:t>Enfuce  ·  Machine Learning Engineer technical case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THE PROBLEM</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2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The problem, and why the framing matters</a:t>
            </a:r>
            <a:endParaRPr lang="en-US" sz="2700" dirty="0"/>
          </a:p>
        </p:txBody>
      </p:sp>
      <p:sp>
        <p:nvSpPr>
          <p:cNvPr id="7" name="Shape 5"/>
          <p:cNvSpPr/>
          <p:nvPr/>
        </p:nvSpPr>
        <p:spPr>
          <a:xfrm>
            <a:off x="548640" y="1783080"/>
            <a:ext cx="11064240" cy="1600200"/>
          </a:xfrm>
          <a:prstGeom prst="roundRect">
            <a:avLst>
              <a:gd name="adj" fmla="val 3429"/>
            </a:avLst>
          </a:prstGeom>
          <a:solidFill>
            <a:srgbClr val="F6F3F2"/>
          </a:solidFill>
          <a:ln w="12700">
            <a:solidFill>
              <a:srgbClr val="E4E1DF"/>
            </a:solidFill>
            <a:prstDash val="solid"/>
          </a:ln>
        </p:spPr>
        <p:txBody>
          <a:bodyPr/>
          <a:lstStyle/>
          <a:p>
            <a:endParaRPr lang="en-DE"/>
          </a:p>
        </p:txBody>
      </p:sp>
      <p:sp>
        <p:nvSpPr>
          <p:cNvPr id="8" name="Text 6"/>
          <p:cNvSpPr txBox="1"/>
          <p:nvPr/>
        </p:nvSpPr>
        <p:spPr>
          <a:xfrm>
            <a:off x="868680" y="1965960"/>
            <a:ext cx="10424160" cy="1280160"/>
          </a:xfrm>
          <a:prstGeom prst="rect">
            <a:avLst/>
          </a:prstGeom>
          <a:noFill/>
          <a:ln/>
        </p:spPr>
        <p:txBody>
          <a:bodyPr wrap="square" lIns="0" tIns="0" rIns="0" bIns="0" rtlCol="0" anchor="ctr"/>
          <a:lstStyle/>
          <a:p>
            <a:pPr marL="0" indent="0">
              <a:lnSpc>
                <a:spcPct val="115000"/>
              </a:lnSpc>
              <a:buNone/>
            </a:pPr>
            <a:r>
              <a:rPr lang="en-US" sz="1600" i="1" dirty="0">
                <a:solidFill>
                  <a:srgbClr val="1A1A1A"/>
                </a:solidFill>
                <a:latin typeface="Arial" pitchFamily="34" charset="0"/>
                <a:ea typeface="Arial" pitchFamily="34" charset="-122"/>
                <a:cs typeface="Arial" pitchFamily="34" charset="-120"/>
              </a:rPr>
              <a:t>Given a stream of transactions where about 0.1% are laundering, rank them by risk well enough that investigators, reviewing only the top slice each day, catch as much laundering as possible for as little wasted effort as possible.</a:t>
            </a:r>
            <a:endParaRPr lang="en-US" sz="1600" dirty="0"/>
          </a:p>
        </p:txBody>
      </p:sp>
      <p:sp>
        <p:nvSpPr>
          <p:cNvPr id="9" name="Text 7"/>
          <p:cNvSpPr txBox="1"/>
          <p:nvPr/>
        </p:nvSpPr>
        <p:spPr>
          <a:xfrm>
            <a:off x="548640" y="3703320"/>
            <a:ext cx="11064240" cy="4206240"/>
          </a:xfrm>
          <a:prstGeom prst="rect">
            <a:avLst/>
          </a:prstGeom>
          <a:noFill/>
          <a:ln/>
        </p:spPr>
        <p:txBody>
          <a:bodyPr wrap="square" lIns="0" tIns="0" rIns="0" bIns="0" rtlCol="0" anchor="t"/>
          <a:lstStyle/>
          <a:p>
            <a:pPr marL="152400" indent="-152400">
              <a:lnSpc>
                <a:spcPct val="100000"/>
              </a:lnSpc>
              <a:spcAft>
                <a:spcPts val="800"/>
              </a:spcAft>
              <a:buSzPct val="100000"/>
              <a:buChar char="•"/>
            </a:pPr>
            <a:r>
              <a:rPr lang="en-DE" sz="1600" dirty="0"/>
              <a:t>It is a ranking problem, not a yes/no classifier. The model ranks and humans decide.</a:t>
            </a:r>
            <a:endParaRPr lang="en-US" sz="1600" dirty="0">
              <a:solidFill>
                <a:srgbClr val="1A1A1A"/>
              </a:solidFill>
              <a:ea typeface="Calibri" pitchFamily="34" charset="-122"/>
              <a:cs typeface="Calibri" pitchFamily="34" charset="-120"/>
            </a:endParaRPr>
          </a:p>
          <a:p>
            <a:pPr marL="152400" indent="-152400">
              <a:lnSpc>
                <a:spcPct val="105000"/>
              </a:lnSpc>
              <a:spcAft>
                <a:spcPts val="800"/>
              </a:spcAft>
              <a:buSzPct val="100000"/>
              <a:buChar char="•"/>
            </a:pPr>
            <a:r>
              <a:rPr lang="en-US" sz="1600" dirty="0">
                <a:solidFill>
                  <a:srgbClr val="1A1A1A"/>
                </a:solidFill>
                <a:ea typeface="Calibri" pitchFamily="34" charset="-122"/>
                <a:cs typeface="Calibri" pitchFamily="34" charset="-120"/>
              </a:rPr>
              <a:t>The hard constraint is investigator capacity, not model capacity. </a:t>
            </a:r>
          </a:p>
          <a:p>
            <a:pPr marL="152400" indent="-152400">
              <a:lnSpc>
                <a:spcPct val="105000"/>
              </a:lnSpc>
              <a:spcAft>
                <a:spcPts val="800"/>
              </a:spcAft>
              <a:buSzPct val="100000"/>
              <a:buChar char="•"/>
            </a:pPr>
            <a:r>
              <a:rPr lang="en-US" sz="1600" dirty="0">
                <a:solidFill>
                  <a:srgbClr val="1A1A1A"/>
                </a:solidFill>
                <a:ea typeface="Calibri" pitchFamily="34" charset="-122"/>
                <a:cs typeface="Calibri" pitchFamily="34" charset="-120"/>
              </a:rPr>
              <a:t>You cannot alert on everything suspicious, so the objective is recall within a fixed daily alert budget.</a:t>
            </a:r>
            <a:endParaRPr lang="en-US" sz="1600" dirty="0"/>
          </a:p>
          <a:p>
            <a:pPr marL="152400" indent="-152400">
              <a:lnSpc>
                <a:spcPct val="105000"/>
              </a:lnSpc>
              <a:spcAft>
                <a:spcPts val="800"/>
              </a:spcAft>
              <a:buSzPct val="100000"/>
              <a:buChar char="•"/>
            </a:pPr>
            <a:r>
              <a:rPr lang="en-US" sz="1600" dirty="0">
                <a:solidFill>
                  <a:srgbClr val="1A1A1A"/>
                </a:solidFill>
                <a:ea typeface="Calibri" pitchFamily="34" charset="-122"/>
                <a:cs typeface="Calibri" pitchFamily="34" charset="-120"/>
              </a:rPr>
              <a:t>This is the tension the brief names: detecting suspicious activity vs generating unnecessary alerts. </a:t>
            </a:r>
          </a:p>
          <a:p>
            <a:pPr marL="152400" indent="-152400">
              <a:lnSpc>
                <a:spcPct val="105000"/>
              </a:lnSpc>
              <a:spcAft>
                <a:spcPts val="800"/>
              </a:spcAft>
              <a:buSzPct val="100000"/>
              <a:buChar char="•"/>
            </a:pPr>
            <a:r>
              <a:rPr lang="en-US" sz="1600" dirty="0">
                <a:solidFill>
                  <a:srgbClr val="1A1A1A"/>
                </a:solidFill>
                <a:ea typeface="Calibri" pitchFamily="34" charset="-122"/>
                <a:cs typeface="Calibri" pitchFamily="34" charset="-120"/>
              </a:rPr>
              <a:t>Every choice in this deck is judged against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THE DATA</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3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SAML-D: synthetic transaction data over time</a:t>
            </a:r>
            <a:endParaRPr lang="en-US" sz="2700" dirty="0"/>
          </a:p>
        </p:txBody>
      </p:sp>
      <p:sp>
        <p:nvSpPr>
          <p:cNvPr id="7" name="Text 5"/>
          <p:cNvSpPr txBox="1"/>
          <p:nvPr/>
        </p:nvSpPr>
        <p:spPr>
          <a:xfrm>
            <a:off x="548640" y="2011680"/>
            <a:ext cx="3566160" cy="868680"/>
          </a:xfrm>
          <a:prstGeom prst="rect">
            <a:avLst/>
          </a:prstGeom>
          <a:noFill/>
          <a:ln/>
        </p:spPr>
        <p:txBody>
          <a:bodyPr wrap="square" lIns="0" tIns="0" rIns="0" bIns="0" rtlCol="0" anchor="ctr"/>
          <a:lstStyle/>
          <a:p>
            <a:pPr marL="0" indent="0" algn="ctr">
              <a:buNone/>
            </a:pPr>
            <a:r>
              <a:rPr lang="en-US" sz="4000" b="1" dirty="0">
                <a:solidFill>
                  <a:srgbClr val="1A1A1A"/>
                </a:solidFill>
                <a:latin typeface="Arial" pitchFamily="34" charset="0"/>
                <a:ea typeface="Arial" pitchFamily="34" charset="-122"/>
                <a:cs typeface="Arial" pitchFamily="34" charset="-120"/>
              </a:rPr>
              <a:t>9.5M</a:t>
            </a:r>
            <a:endParaRPr lang="en-US" sz="4000" dirty="0"/>
          </a:p>
        </p:txBody>
      </p:sp>
      <p:sp>
        <p:nvSpPr>
          <p:cNvPr id="8" name="Text 6"/>
          <p:cNvSpPr txBox="1"/>
          <p:nvPr/>
        </p:nvSpPr>
        <p:spPr>
          <a:xfrm>
            <a:off x="548640" y="2880360"/>
            <a:ext cx="3566160" cy="548640"/>
          </a:xfrm>
          <a:prstGeom prst="rect">
            <a:avLst/>
          </a:prstGeom>
          <a:noFill/>
          <a:ln/>
        </p:spPr>
        <p:txBody>
          <a:bodyPr wrap="square" lIns="0" tIns="0" rIns="0" bIns="0" rtlCol="0" anchor="ctr"/>
          <a:lstStyle/>
          <a:p>
            <a:pPr marL="0" indent="0" algn="ctr">
              <a:buNone/>
            </a:pPr>
            <a:r>
              <a:rPr lang="en-US" sz="1200" dirty="0">
                <a:solidFill>
                  <a:srgbClr val="6E6E6E"/>
                </a:solidFill>
                <a:latin typeface="Calibri" pitchFamily="34" charset="0"/>
                <a:ea typeface="Calibri" pitchFamily="34" charset="-122"/>
                <a:cs typeface="Calibri" pitchFamily="34" charset="-120"/>
              </a:rPr>
              <a:t>transactions, Oct 2022 to Aug 2023</a:t>
            </a:r>
            <a:endParaRPr lang="en-US" sz="1200" dirty="0"/>
          </a:p>
        </p:txBody>
      </p:sp>
      <p:sp>
        <p:nvSpPr>
          <p:cNvPr id="9" name="Text 7"/>
          <p:cNvSpPr txBox="1"/>
          <p:nvPr/>
        </p:nvSpPr>
        <p:spPr>
          <a:xfrm>
            <a:off x="4343400" y="2011680"/>
            <a:ext cx="3566160" cy="868680"/>
          </a:xfrm>
          <a:prstGeom prst="rect">
            <a:avLst/>
          </a:prstGeom>
          <a:noFill/>
          <a:ln/>
        </p:spPr>
        <p:txBody>
          <a:bodyPr wrap="square" lIns="0" tIns="0" rIns="0" bIns="0" rtlCol="0" anchor="ctr"/>
          <a:lstStyle/>
          <a:p>
            <a:pPr marL="0" indent="0" algn="ctr">
              <a:buNone/>
            </a:pPr>
            <a:r>
              <a:rPr lang="en-US" sz="4000" b="1" dirty="0">
                <a:solidFill>
                  <a:srgbClr val="F0523C"/>
                </a:solidFill>
                <a:latin typeface="Arial" pitchFamily="34" charset="0"/>
                <a:ea typeface="Arial" pitchFamily="34" charset="-122"/>
                <a:cs typeface="Arial" pitchFamily="34" charset="-120"/>
              </a:rPr>
              <a:t>0.10%</a:t>
            </a:r>
            <a:endParaRPr lang="en-US" sz="4000" dirty="0"/>
          </a:p>
        </p:txBody>
      </p:sp>
      <p:sp>
        <p:nvSpPr>
          <p:cNvPr id="10" name="Text 8"/>
          <p:cNvSpPr txBox="1"/>
          <p:nvPr/>
        </p:nvSpPr>
        <p:spPr>
          <a:xfrm>
            <a:off x="4343400" y="2880360"/>
            <a:ext cx="3566160" cy="548640"/>
          </a:xfrm>
          <a:prstGeom prst="rect">
            <a:avLst/>
          </a:prstGeom>
          <a:noFill/>
          <a:ln/>
        </p:spPr>
        <p:txBody>
          <a:bodyPr wrap="square" lIns="0" tIns="0" rIns="0" bIns="0" rtlCol="0" anchor="ctr"/>
          <a:lstStyle/>
          <a:p>
            <a:pPr marL="0" indent="0" algn="ctr">
              <a:buNone/>
            </a:pPr>
            <a:r>
              <a:rPr lang="en-US" sz="1200" dirty="0">
                <a:solidFill>
                  <a:srgbClr val="6E6E6E"/>
                </a:solidFill>
                <a:latin typeface="Calibri" pitchFamily="34" charset="0"/>
                <a:ea typeface="Calibri" pitchFamily="34" charset="-122"/>
                <a:cs typeface="Calibri" pitchFamily="34" charset="-120"/>
              </a:rPr>
              <a:t>laundering, about 1 in 960</a:t>
            </a:r>
            <a:endParaRPr lang="en-US" sz="1200" dirty="0"/>
          </a:p>
        </p:txBody>
      </p:sp>
      <p:sp>
        <p:nvSpPr>
          <p:cNvPr id="11" name="Text 9"/>
          <p:cNvSpPr txBox="1"/>
          <p:nvPr/>
        </p:nvSpPr>
        <p:spPr>
          <a:xfrm>
            <a:off x="8138160" y="2011680"/>
            <a:ext cx="3474720" cy="868680"/>
          </a:xfrm>
          <a:prstGeom prst="rect">
            <a:avLst/>
          </a:prstGeom>
          <a:noFill/>
          <a:ln/>
        </p:spPr>
        <p:txBody>
          <a:bodyPr wrap="square" lIns="0" tIns="0" rIns="0" bIns="0" rtlCol="0" anchor="ctr"/>
          <a:lstStyle/>
          <a:p>
            <a:pPr marL="0" indent="0" algn="ctr">
              <a:buNone/>
            </a:pPr>
            <a:r>
              <a:rPr lang="en-US" sz="4000" b="1" dirty="0">
                <a:solidFill>
                  <a:srgbClr val="1A1A1A"/>
                </a:solidFill>
                <a:latin typeface="Arial" pitchFamily="34" charset="0"/>
                <a:ea typeface="Arial" pitchFamily="34" charset="-122"/>
                <a:cs typeface="Arial" pitchFamily="34" charset="-120"/>
              </a:rPr>
              <a:t>11</a:t>
            </a:r>
            <a:endParaRPr lang="en-US" sz="4000" dirty="0"/>
          </a:p>
        </p:txBody>
      </p:sp>
      <p:sp>
        <p:nvSpPr>
          <p:cNvPr id="12" name="Text 10"/>
          <p:cNvSpPr txBox="1"/>
          <p:nvPr/>
        </p:nvSpPr>
        <p:spPr>
          <a:xfrm>
            <a:off x="8138160" y="2880360"/>
            <a:ext cx="3474720" cy="548640"/>
          </a:xfrm>
          <a:prstGeom prst="rect">
            <a:avLst/>
          </a:prstGeom>
          <a:noFill/>
          <a:ln/>
        </p:spPr>
        <p:txBody>
          <a:bodyPr wrap="square" lIns="0" tIns="0" rIns="0" bIns="0" rtlCol="0" anchor="ctr"/>
          <a:lstStyle/>
          <a:p>
            <a:pPr marL="0" indent="0" algn="ctr">
              <a:buNone/>
            </a:pPr>
            <a:r>
              <a:rPr lang="en-US" sz="1200" dirty="0">
                <a:solidFill>
                  <a:srgbClr val="6E6E6E"/>
                </a:solidFill>
                <a:latin typeface="Calibri" pitchFamily="34" charset="0"/>
                <a:ea typeface="Calibri" pitchFamily="34" charset="-122"/>
                <a:cs typeface="Calibri" pitchFamily="34" charset="-120"/>
              </a:rPr>
              <a:t>monthly files, ready-made batches</a:t>
            </a:r>
            <a:endParaRPr lang="en-US" sz="1200" dirty="0"/>
          </a:p>
        </p:txBody>
      </p:sp>
      <p:sp>
        <p:nvSpPr>
          <p:cNvPr id="13" name="Text 11"/>
          <p:cNvSpPr txBox="1"/>
          <p:nvPr/>
        </p:nvSpPr>
        <p:spPr>
          <a:xfrm>
            <a:off x="594360" y="4107386"/>
            <a:ext cx="11064240" cy="4206240"/>
          </a:xfrm>
          <a:prstGeom prst="rect">
            <a:avLst/>
          </a:prstGeom>
          <a:noFill/>
          <a:ln/>
        </p:spPr>
        <p:txBody>
          <a:bodyPr wrap="square" lIns="0" tIns="0" rIns="0" bIns="0" rtlCol="0" anchor="t"/>
          <a:lstStyle/>
          <a:p>
            <a:pPr marL="285750" indent="-285750">
              <a:buFont typeface="Arial" panose="020B0604020202020204" pitchFamily="34" charset="0"/>
              <a:buChar char="•"/>
            </a:pPr>
            <a:r>
              <a:rPr lang="en-DE" sz="1600" dirty="0"/>
              <a:t>Prevalence 0.1%, drifting up (0.10% to 0.13%). A monitoring signal in itself</a:t>
            </a:r>
            <a:endParaRPr lang="en-US" sz="1600" dirty="0">
              <a:solidFill>
                <a:srgbClr val="1A1A1A"/>
              </a:solidFill>
              <a:ea typeface="Calibri" pitchFamily="34" charset="-122"/>
              <a:cs typeface="Calibri" pitchFamily="34" charset="-120"/>
            </a:endParaRPr>
          </a:p>
          <a:p>
            <a:pPr marL="285750" indent="-285750">
              <a:lnSpc>
                <a:spcPct val="100000"/>
              </a:lnSpc>
              <a:spcAft>
                <a:spcPts val="800"/>
              </a:spcAft>
              <a:buSzPct val="100000"/>
              <a:buFont typeface="Arial" panose="020B0604020202020204" pitchFamily="34" charset="0"/>
              <a:buChar char="•"/>
            </a:pPr>
            <a:r>
              <a:rPr lang="en-US" sz="1600" dirty="0">
                <a:solidFill>
                  <a:srgbClr val="1A1A1A"/>
                </a:solidFill>
                <a:ea typeface="Calibri" pitchFamily="34" charset="-122"/>
                <a:cs typeface="Calibri" pitchFamily="34" charset="-120"/>
              </a:rPr>
              <a:t>Labels are per-transaction. </a:t>
            </a:r>
            <a:r>
              <a:rPr lang="en-DE" sz="1600" dirty="0"/>
              <a:t>score transactions, not accounts (an account looks normal 99% of the time)</a:t>
            </a:r>
            <a:endParaRPr lang="en-US" sz="1600" dirty="0">
              <a:solidFill>
                <a:srgbClr val="1A1A1A"/>
              </a:solidFill>
              <a:ea typeface="Calibri" pitchFamily="34" charset="-122"/>
              <a:cs typeface="Calibri" pitchFamily="34" charset="-120"/>
            </a:endParaRPr>
          </a:p>
          <a:p>
            <a:pPr marL="285750" indent="-285750">
              <a:lnSpc>
                <a:spcPct val="105000"/>
              </a:lnSpc>
              <a:spcAft>
                <a:spcPts val="800"/>
              </a:spcAft>
              <a:buSzPct val="100000"/>
              <a:buFont typeface="Arial" panose="020B0604020202020204" pitchFamily="34" charset="0"/>
              <a:buChar char="•"/>
            </a:pPr>
            <a:r>
              <a:rPr lang="en-US" sz="1600" dirty="0">
                <a:solidFill>
                  <a:srgbClr val="1A1A1A"/>
                </a:solidFill>
                <a:ea typeface="Calibri" pitchFamily="34" charset="-122"/>
                <a:cs typeface="Calibri" pitchFamily="34" charset="-120"/>
              </a:rPr>
              <a:t>Clean data: 293k senders, 90% recurring</a:t>
            </a:r>
            <a:endParaRPr lang="en-US" sz="1600" dirty="0"/>
          </a:p>
          <a:p>
            <a:pPr marL="285750" indent="-285750">
              <a:lnSpc>
                <a:spcPct val="100000"/>
              </a:lnSpc>
              <a:spcAft>
                <a:spcPts val="800"/>
              </a:spcAft>
              <a:buSzPct val="100000"/>
              <a:buFont typeface="Arial" panose="020B0604020202020204" pitchFamily="34" charset="0"/>
              <a:buChar char="•"/>
            </a:pPr>
            <a:r>
              <a:rPr lang="en-DE" sz="1600" dirty="0"/>
              <a:t>28 named typologies, for error analysis only, never a feature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EDA</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4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EDA: look before build</a:t>
            </a:r>
            <a:endParaRPr lang="en-US" sz="2700" dirty="0"/>
          </a:p>
        </p:txBody>
      </p:sp>
      <p:sp>
        <p:nvSpPr>
          <p:cNvPr id="7" name="Text 5"/>
          <p:cNvSpPr txBox="1"/>
          <p:nvPr/>
        </p:nvSpPr>
        <p:spPr>
          <a:xfrm>
            <a:off x="548640" y="1783080"/>
            <a:ext cx="11064240" cy="502920"/>
          </a:xfrm>
          <a:prstGeom prst="rect">
            <a:avLst/>
          </a:prstGeom>
          <a:noFill/>
          <a:ln/>
        </p:spPr>
        <p:txBody>
          <a:bodyPr wrap="square" lIns="0" tIns="0" rIns="0" bIns="0" rtlCol="0" anchor="ctr"/>
          <a:lstStyle/>
          <a:p>
            <a:pPr marL="0" indent="0">
              <a:buNone/>
            </a:pPr>
            <a:r>
              <a:rPr lang="en-US" sz="1250" i="1" dirty="0">
                <a:solidFill>
                  <a:srgbClr val="6E6E6E"/>
                </a:solidFill>
                <a:latin typeface="Calibri" pitchFamily="34" charset="0"/>
                <a:ea typeface="Calibri" pitchFamily="34" charset="-122"/>
                <a:cs typeface="Calibri" pitchFamily="34" charset="-120"/>
              </a:rPr>
              <a:t>Every feature decision here traces to a number, not a hunch.</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64240" cy="3364992"/>
        </p:xfrm>
        <a:graphic>
          <a:graphicData uri="http://schemas.openxmlformats.org/drawingml/2006/table">
            <a:tbl>
              <a:tblPr/>
              <a:tblGrid>
                <a:gridCol w="30175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42062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 checked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 found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Decision</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Prevalence and stability</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0.10%, drifts 0.10% to 0.13%</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ranking problem, PR-AUC, Part 2 watches it</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Missing values</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no imputation step</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Do accounts recur?</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90% of senders recur</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account-history features are viable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Cross-border and currency-mismatch</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25% vs 10%, and 34% vs 11% (laundering vs normal)</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keep both</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Large amount (over GBP 100k)</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3.2% vs 0.3%</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keep the flag</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5"/>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Night and weekend flags</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no separation</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dropped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6"/>
                  </a:ext>
                </a:extLst>
              </a:tr>
              <a:tr h="420624">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Laundering_type by class</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value sets are disjoint</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target leakage, excluded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PART 1 PIPELINE</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5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The Part 1 pipeline, and how it answers the brief</a:t>
            </a:r>
            <a:endParaRPr lang="en-US" sz="2700" dirty="0"/>
          </a:p>
        </p:txBody>
      </p:sp>
      <p:sp>
        <p:nvSpPr>
          <p:cNvPr id="7" name="Shape 5"/>
          <p:cNvSpPr/>
          <p:nvPr/>
        </p:nvSpPr>
        <p:spPr>
          <a:xfrm>
            <a:off x="548640" y="2148840"/>
            <a:ext cx="1149531" cy="777240"/>
          </a:xfrm>
          <a:prstGeom prst="roundRect">
            <a:avLst>
              <a:gd name="adj" fmla="val 4706"/>
            </a:avLst>
          </a:prstGeom>
          <a:solidFill>
            <a:srgbClr val="1A1A1A"/>
          </a:solidFill>
          <a:ln/>
        </p:spPr>
        <p:txBody>
          <a:bodyPr/>
          <a:lstStyle/>
          <a:p>
            <a:endParaRPr lang="en-DE"/>
          </a:p>
        </p:txBody>
      </p:sp>
      <p:sp>
        <p:nvSpPr>
          <p:cNvPr id="8" name="Text 6"/>
          <p:cNvSpPr txBox="1"/>
          <p:nvPr/>
        </p:nvSpPr>
        <p:spPr>
          <a:xfrm>
            <a:off x="548640"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load</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 time sort</a:t>
            </a:r>
            <a:endParaRPr lang="en-US" sz="900" dirty="0"/>
          </a:p>
        </p:txBody>
      </p:sp>
      <p:sp>
        <p:nvSpPr>
          <p:cNvPr id="9" name="Shape 7"/>
          <p:cNvSpPr/>
          <p:nvPr/>
        </p:nvSpPr>
        <p:spPr>
          <a:xfrm>
            <a:off x="1734747" y="2363724"/>
            <a:ext cx="429768" cy="347472"/>
          </a:xfrm>
          <a:prstGeom prst="rightArrow">
            <a:avLst/>
          </a:prstGeom>
          <a:solidFill>
            <a:srgbClr val="F0523C"/>
          </a:solidFill>
          <a:ln/>
        </p:spPr>
        <p:txBody>
          <a:bodyPr/>
          <a:lstStyle/>
          <a:p>
            <a:endParaRPr lang="en-DE"/>
          </a:p>
        </p:txBody>
      </p:sp>
      <p:sp>
        <p:nvSpPr>
          <p:cNvPr id="10" name="Shape 8"/>
          <p:cNvSpPr/>
          <p:nvPr/>
        </p:nvSpPr>
        <p:spPr>
          <a:xfrm>
            <a:off x="2201091" y="2148840"/>
            <a:ext cx="1149531" cy="777240"/>
          </a:xfrm>
          <a:prstGeom prst="roundRect">
            <a:avLst>
              <a:gd name="adj" fmla="val 4706"/>
            </a:avLst>
          </a:prstGeom>
          <a:solidFill>
            <a:srgbClr val="1A1A1A"/>
          </a:solidFill>
          <a:ln/>
        </p:spPr>
        <p:txBody>
          <a:bodyPr/>
          <a:lstStyle/>
          <a:p>
            <a:endParaRPr lang="en-DE"/>
          </a:p>
        </p:txBody>
      </p:sp>
      <p:sp>
        <p:nvSpPr>
          <p:cNvPr id="11" name="Text 9"/>
          <p:cNvSpPr txBox="1"/>
          <p:nvPr/>
        </p:nvSpPr>
        <p:spPr>
          <a:xfrm>
            <a:off x="2201091"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transaction</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features</a:t>
            </a:r>
            <a:endParaRPr lang="en-US" sz="900" dirty="0"/>
          </a:p>
        </p:txBody>
      </p:sp>
      <p:sp>
        <p:nvSpPr>
          <p:cNvPr id="12" name="Shape 10"/>
          <p:cNvSpPr/>
          <p:nvPr/>
        </p:nvSpPr>
        <p:spPr>
          <a:xfrm>
            <a:off x="3387199" y="2363724"/>
            <a:ext cx="429768" cy="347472"/>
          </a:xfrm>
          <a:prstGeom prst="rightArrow">
            <a:avLst/>
          </a:prstGeom>
          <a:solidFill>
            <a:srgbClr val="F0523C"/>
          </a:solidFill>
          <a:ln/>
        </p:spPr>
        <p:txBody>
          <a:bodyPr/>
          <a:lstStyle/>
          <a:p>
            <a:endParaRPr lang="en-DE"/>
          </a:p>
        </p:txBody>
      </p:sp>
      <p:sp>
        <p:nvSpPr>
          <p:cNvPr id="13" name="Shape 11"/>
          <p:cNvSpPr/>
          <p:nvPr/>
        </p:nvSpPr>
        <p:spPr>
          <a:xfrm>
            <a:off x="3853543" y="2148840"/>
            <a:ext cx="1149531" cy="777240"/>
          </a:xfrm>
          <a:prstGeom prst="roundRect">
            <a:avLst>
              <a:gd name="adj" fmla="val 4706"/>
            </a:avLst>
          </a:prstGeom>
          <a:solidFill>
            <a:srgbClr val="1A1A1A"/>
          </a:solidFill>
          <a:ln/>
        </p:spPr>
        <p:txBody>
          <a:bodyPr/>
          <a:lstStyle/>
          <a:p>
            <a:endParaRPr lang="en-DE"/>
          </a:p>
        </p:txBody>
      </p:sp>
      <p:sp>
        <p:nvSpPr>
          <p:cNvPr id="14" name="Text 12"/>
          <p:cNvSpPr txBox="1"/>
          <p:nvPr/>
        </p:nvSpPr>
        <p:spPr>
          <a:xfrm>
            <a:off x="3853543"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entity</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features</a:t>
            </a:r>
            <a:endParaRPr lang="en-US" sz="900" dirty="0"/>
          </a:p>
        </p:txBody>
      </p:sp>
      <p:sp>
        <p:nvSpPr>
          <p:cNvPr id="15" name="Shape 13"/>
          <p:cNvSpPr/>
          <p:nvPr/>
        </p:nvSpPr>
        <p:spPr>
          <a:xfrm>
            <a:off x="5039650" y="2363724"/>
            <a:ext cx="429768" cy="347472"/>
          </a:xfrm>
          <a:prstGeom prst="rightArrow">
            <a:avLst/>
          </a:prstGeom>
          <a:solidFill>
            <a:srgbClr val="F0523C"/>
          </a:solidFill>
          <a:ln/>
        </p:spPr>
        <p:txBody>
          <a:bodyPr/>
          <a:lstStyle/>
          <a:p>
            <a:endParaRPr lang="en-DE"/>
          </a:p>
        </p:txBody>
      </p:sp>
      <p:sp>
        <p:nvSpPr>
          <p:cNvPr id="16" name="Shape 14"/>
          <p:cNvSpPr/>
          <p:nvPr/>
        </p:nvSpPr>
        <p:spPr>
          <a:xfrm>
            <a:off x="5505994" y="2148840"/>
            <a:ext cx="1149531" cy="777240"/>
          </a:xfrm>
          <a:prstGeom prst="roundRect">
            <a:avLst>
              <a:gd name="adj" fmla="val 4706"/>
            </a:avLst>
          </a:prstGeom>
          <a:solidFill>
            <a:srgbClr val="1A1A1A"/>
          </a:solidFill>
          <a:ln/>
        </p:spPr>
        <p:txBody>
          <a:bodyPr/>
          <a:lstStyle/>
          <a:p>
            <a:endParaRPr lang="en-DE"/>
          </a:p>
        </p:txBody>
      </p:sp>
      <p:sp>
        <p:nvSpPr>
          <p:cNvPr id="17" name="Text 15"/>
          <p:cNvSpPr txBox="1"/>
          <p:nvPr/>
        </p:nvSpPr>
        <p:spPr>
          <a:xfrm>
            <a:off x="5505994"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temporal</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split</a:t>
            </a:r>
            <a:endParaRPr lang="en-US" sz="900" dirty="0"/>
          </a:p>
        </p:txBody>
      </p:sp>
      <p:sp>
        <p:nvSpPr>
          <p:cNvPr id="18" name="Shape 16"/>
          <p:cNvSpPr/>
          <p:nvPr/>
        </p:nvSpPr>
        <p:spPr>
          <a:xfrm>
            <a:off x="6692102" y="2363724"/>
            <a:ext cx="429768" cy="347472"/>
          </a:xfrm>
          <a:prstGeom prst="rightArrow">
            <a:avLst/>
          </a:prstGeom>
          <a:solidFill>
            <a:srgbClr val="F0523C"/>
          </a:solidFill>
          <a:ln/>
        </p:spPr>
        <p:txBody>
          <a:bodyPr/>
          <a:lstStyle/>
          <a:p>
            <a:endParaRPr lang="en-DE"/>
          </a:p>
        </p:txBody>
      </p:sp>
      <p:sp>
        <p:nvSpPr>
          <p:cNvPr id="19" name="Shape 17"/>
          <p:cNvSpPr/>
          <p:nvPr/>
        </p:nvSpPr>
        <p:spPr>
          <a:xfrm>
            <a:off x="7158446" y="2148840"/>
            <a:ext cx="1149531" cy="777240"/>
          </a:xfrm>
          <a:prstGeom prst="roundRect">
            <a:avLst>
              <a:gd name="adj" fmla="val 4706"/>
            </a:avLst>
          </a:prstGeom>
          <a:solidFill>
            <a:srgbClr val="1A1A1A"/>
          </a:solidFill>
          <a:ln/>
        </p:spPr>
        <p:txBody>
          <a:bodyPr/>
          <a:lstStyle/>
          <a:p>
            <a:endParaRPr lang="en-DE"/>
          </a:p>
        </p:txBody>
      </p:sp>
      <p:sp>
        <p:nvSpPr>
          <p:cNvPr id="20" name="Text 18"/>
          <p:cNvSpPr txBox="1"/>
          <p:nvPr/>
        </p:nvSpPr>
        <p:spPr>
          <a:xfrm>
            <a:off x="7158446"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handle</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imbalance</a:t>
            </a:r>
            <a:endParaRPr lang="en-US" sz="900" dirty="0"/>
          </a:p>
        </p:txBody>
      </p:sp>
      <p:sp>
        <p:nvSpPr>
          <p:cNvPr id="21" name="Shape 19"/>
          <p:cNvSpPr/>
          <p:nvPr/>
        </p:nvSpPr>
        <p:spPr>
          <a:xfrm>
            <a:off x="8344553" y="2363724"/>
            <a:ext cx="429768" cy="347472"/>
          </a:xfrm>
          <a:prstGeom prst="rightArrow">
            <a:avLst/>
          </a:prstGeom>
          <a:solidFill>
            <a:srgbClr val="F0523C"/>
          </a:solidFill>
          <a:ln/>
        </p:spPr>
        <p:txBody>
          <a:bodyPr/>
          <a:lstStyle/>
          <a:p>
            <a:endParaRPr lang="en-DE"/>
          </a:p>
        </p:txBody>
      </p:sp>
      <p:sp>
        <p:nvSpPr>
          <p:cNvPr id="22" name="Shape 20"/>
          <p:cNvSpPr/>
          <p:nvPr/>
        </p:nvSpPr>
        <p:spPr>
          <a:xfrm>
            <a:off x="8810897" y="2148840"/>
            <a:ext cx="1149531" cy="777240"/>
          </a:xfrm>
          <a:prstGeom prst="roundRect">
            <a:avLst>
              <a:gd name="adj" fmla="val 4706"/>
            </a:avLst>
          </a:prstGeom>
          <a:solidFill>
            <a:srgbClr val="1A1A1A"/>
          </a:solidFill>
          <a:ln/>
        </p:spPr>
        <p:txBody>
          <a:bodyPr/>
          <a:lstStyle/>
          <a:p>
            <a:endParaRPr lang="en-DE"/>
          </a:p>
        </p:txBody>
      </p:sp>
      <p:sp>
        <p:nvSpPr>
          <p:cNvPr id="23" name="Text 21"/>
          <p:cNvSpPr txBox="1"/>
          <p:nvPr/>
        </p:nvSpPr>
        <p:spPr>
          <a:xfrm>
            <a:off x="8810897"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train</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LightGBM</a:t>
            </a:r>
            <a:endParaRPr lang="en-US" sz="900" dirty="0"/>
          </a:p>
        </p:txBody>
      </p:sp>
      <p:sp>
        <p:nvSpPr>
          <p:cNvPr id="24" name="Shape 22"/>
          <p:cNvSpPr/>
          <p:nvPr/>
        </p:nvSpPr>
        <p:spPr>
          <a:xfrm>
            <a:off x="9997005" y="2363724"/>
            <a:ext cx="429768" cy="347472"/>
          </a:xfrm>
          <a:prstGeom prst="rightArrow">
            <a:avLst/>
          </a:prstGeom>
          <a:solidFill>
            <a:srgbClr val="F0523C"/>
          </a:solidFill>
          <a:ln/>
        </p:spPr>
        <p:txBody>
          <a:bodyPr/>
          <a:lstStyle/>
          <a:p>
            <a:endParaRPr lang="en-DE"/>
          </a:p>
        </p:txBody>
      </p:sp>
      <p:sp>
        <p:nvSpPr>
          <p:cNvPr id="25" name="Shape 23"/>
          <p:cNvSpPr/>
          <p:nvPr/>
        </p:nvSpPr>
        <p:spPr>
          <a:xfrm>
            <a:off x="10463349" y="2148840"/>
            <a:ext cx="1149531" cy="777240"/>
          </a:xfrm>
          <a:prstGeom prst="roundRect">
            <a:avLst>
              <a:gd name="adj" fmla="val 4706"/>
            </a:avLst>
          </a:prstGeom>
          <a:solidFill>
            <a:srgbClr val="1A1A1A"/>
          </a:solidFill>
          <a:ln/>
        </p:spPr>
        <p:txBody>
          <a:bodyPr/>
          <a:lstStyle/>
          <a:p>
            <a:endParaRPr lang="en-DE"/>
          </a:p>
        </p:txBody>
      </p:sp>
      <p:sp>
        <p:nvSpPr>
          <p:cNvPr id="26" name="Text 24"/>
          <p:cNvSpPr txBox="1"/>
          <p:nvPr/>
        </p:nvSpPr>
        <p:spPr>
          <a:xfrm>
            <a:off x="10463349" y="2148840"/>
            <a:ext cx="1149531" cy="77724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evaluate</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at budget</a:t>
            </a:r>
            <a:endParaRPr lang="en-US" sz="900" dirty="0"/>
          </a:p>
        </p:txBody>
      </p:sp>
      <p:sp>
        <p:nvSpPr>
          <p:cNvPr id="27" name="Text 25"/>
          <p:cNvSpPr txBox="1"/>
          <p:nvPr/>
        </p:nvSpPr>
        <p:spPr>
          <a:xfrm>
            <a:off x="548640" y="3246120"/>
            <a:ext cx="11064240" cy="365760"/>
          </a:xfrm>
          <a:prstGeom prst="rect">
            <a:avLst/>
          </a:prstGeom>
          <a:noFill/>
          <a:ln/>
        </p:spPr>
        <p:txBody>
          <a:bodyPr wrap="square" lIns="0" tIns="0" rIns="0" bIns="0" rtlCol="0" anchor="ctr"/>
          <a:lstStyle/>
          <a:p>
            <a:pPr marL="0" indent="0">
              <a:buNone/>
            </a:pPr>
            <a:r>
              <a:rPr lang="en-US" sz="1200" i="1" dirty="0">
                <a:solidFill>
                  <a:srgbClr val="6E6E6E"/>
                </a:solidFill>
                <a:latin typeface="Calibri" pitchFamily="34" charset="0"/>
                <a:ea typeface="Calibri" pitchFamily="34" charset="-122"/>
                <a:cs typeface="Calibri" pitchFamily="34" charset="-120"/>
              </a:rPr>
              <a:t>Every step is a reasoned decision with a rejected alternative; not a default.</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3749040"/>
          <a:ext cx="11064240" cy="2633472"/>
        </p:xfrm>
        <a:graphic>
          <a:graphicData uri="http://schemas.openxmlformats.org/drawingml/2006/table">
            <a:tbl>
              <a:tblPr/>
              <a:tblGrid>
                <a:gridCol w="420624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3891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The brief asked for</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Pipeline step that answers it</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43891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Preprocessing and feature engineering</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transaction features, entity features, leakage prevention</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Handling class imbalance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handle imbalance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Train, validation and test split</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temporal split</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Evaluation metric and the reasoning</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evaluate at budget, then the metric-choice slide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Detection versus unnecessary alerts</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the recall-versus-workload slide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HOW I WORK</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6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The decisions, written down</a:t>
            </a:r>
            <a:endParaRPr lang="en-US" sz="2700" dirty="0"/>
          </a:p>
        </p:txBody>
      </p:sp>
      <p:sp>
        <p:nvSpPr>
          <p:cNvPr id="7" name="Text 5"/>
          <p:cNvSpPr txBox="1"/>
          <p:nvPr/>
        </p:nvSpPr>
        <p:spPr>
          <a:xfrm>
            <a:off x="548640" y="1783080"/>
            <a:ext cx="11064240" cy="640080"/>
          </a:xfrm>
          <a:prstGeom prst="rect">
            <a:avLst/>
          </a:prstGeom>
          <a:noFill/>
          <a:ln/>
        </p:spPr>
        <p:txBody>
          <a:bodyPr wrap="square" lIns="0" tIns="0" rIns="0" bIns="0" rtlCol="0" anchor="ctr"/>
          <a:lstStyle/>
          <a:p>
            <a:pPr marL="0" indent="0">
              <a:lnSpc>
                <a:spcPct val="110000"/>
              </a:lnSpc>
              <a:buNone/>
            </a:pPr>
            <a:r>
              <a:rPr lang="en-US" sz="1250" i="1" dirty="0">
                <a:solidFill>
                  <a:srgbClr val="6E6E6E"/>
                </a:solidFill>
                <a:latin typeface="Calibri" pitchFamily="34" charset="0"/>
                <a:ea typeface="Calibri" pitchFamily="34" charset="-122"/>
                <a:cs typeface="Calibri" pitchFamily="34" charset="-120"/>
              </a:rPr>
              <a:t>Every decision that matters is a one-page ADR. Choices, rejected alternatives, trade-off</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697480"/>
          <a:ext cx="11064240" cy="3712464"/>
        </p:xfrm>
        <a:graphic>
          <a:graphicData uri="http://schemas.openxmlformats.org/drawingml/2006/table">
            <a:tbl>
              <a:tblPr/>
              <a:tblGrid>
                <a:gridCol w="9144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53035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ADR</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Decision</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Alternative rejected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0002</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Score in daily batches, not real time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streaming / per-transaction scoring</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0003</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Exclude Laundering_type from features</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use it (it is a post-hoc label: leakage)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Split train / val / test by calendar month</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random split, or account-grouped k-fold</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3"/>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Handle imbalance at the threshold, weight = 1</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cost-weight by the ratio, or SMOTE</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4"/>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0006</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Gated promotion: challenger, then human sign-off</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auto-promote on a metric win</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5"/>
                  </a:ext>
                </a:extLst>
              </a:tr>
              <a:tr h="530352">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0001</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Keep an ADR log at all</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decisions live only in commit messages</a:t>
                      </a:r>
                      <a:endParaRPr lang="en-US" sz="11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PREPROCESSING</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7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Preprocessing: deliberately minimal</a:t>
            </a:r>
            <a:endParaRPr lang="en-US" sz="2700" dirty="0"/>
          </a:p>
        </p:txBody>
      </p:sp>
      <p:sp>
        <p:nvSpPr>
          <p:cNvPr id="7" name="Shape 5"/>
          <p:cNvSpPr/>
          <p:nvPr/>
        </p:nvSpPr>
        <p:spPr>
          <a:xfrm>
            <a:off x="548640" y="1965960"/>
            <a:ext cx="5303520" cy="2286000"/>
          </a:xfrm>
          <a:prstGeom prst="roundRect">
            <a:avLst>
              <a:gd name="adj" fmla="val 2400"/>
            </a:avLst>
          </a:prstGeom>
          <a:solidFill>
            <a:srgbClr val="F6F3F2"/>
          </a:solidFill>
          <a:ln w="12700">
            <a:solidFill>
              <a:srgbClr val="E4E1DF"/>
            </a:solidFill>
            <a:prstDash val="solid"/>
          </a:ln>
        </p:spPr>
        <p:txBody>
          <a:bodyPr/>
          <a:lstStyle/>
          <a:p>
            <a:endParaRPr lang="en-DE"/>
          </a:p>
        </p:txBody>
      </p:sp>
      <p:sp>
        <p:nvSpPr>
          <p:cNvPr id="8" name="Text 6"/>
          <p:cNvSpPr txBox="1"/>
          <p:nvPr/>
        </p:nvSpPr>
        <p:spPr>
          <a:xfrm>
            <a:off x="822960" y="2112264"/>
            <a:ext cx="475488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Done on load</a:t>
            </a:r>
            <a:endParaRPr lang="en-US" sz="1350" dirty="0"/>
          </a:p>
        </p:txBody>
      </p:sp>
      <p:sp>
        <p:nvSpPr>
          <p:cNvPr id="9" name="Text 7"/>
          <p:cNvSpPr txBox="1"/>
          <p:nvPr/>
        </p:nvSpPr>
        <p:spPr>
          <a:xfrm>
            <a:off x="740664" y="2432304"/>
            <a:ext cx="4754880" cy="1554480"/>
          </a:xfrm>
          <a:prstGeom prst="rect">
            <a:avLst/>
          </a:prstGeom>
          <a:noFill/>
          <a:ln/>
        </p:spPr>
        <p:txBody>
          <a:bodyPr wrap="square" lIns="0" tIns="0" rIns="0" bIns="0" rtlCol="0" anchor="ctr"/>
          <a:lstStyle/>
          <a:p>
            <a:pPr marL="171450" lvl="0" indent="-171450">
              <a:buFont typeface="Arial" panose="020B0604020202020204" pitchFamily="34" charset="0"/>
              <a:buChar char="•"/>
            </a:pPr>
            <a:r>
              <a:rPr lang="en-DE" sz="1200" dirty="0"/>
              <a:t>Explicit dtypes: half the memory, schema intent in code</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One timestamp from Date + Time, then a global sort by time</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No missing values in raw data, so no imputation</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Only NaN: an entity feature on an account's first transaction, meaning "no history", not "missing"</a:t>
            </a:r>
          </a:p>
        </p:txBody>
      </p:sp>
      <p:sp>
        <p:nvSpPr>
          <p:cNvPr id="10" name="Shape 8"/>
          <p:cNvSpPr/>
          <p:nvPr/>
        </p:nvSpPr>
        <p:spPr>
          <a:xfrm>
            <a:off x="6309360" y="1965960"/>
            <a:ext cx="5303520" cy="2286000"/>
          </a:xfrm>
          <a:prstGeom prst="roundRect">
            <a:avLst>
              <a:gd name="adj" fmla="val 2400"/>
            </a:avLst>
          </a:prstGeom>
          <a:solidFill>
            <a:srgbClr val="FFFFFF"/>
          </a:solidFill>
          <a:ln w="12700">
            <a:solidFill>
              <a:srgbClr val="E4E1DF"/>
            </a:solidFill>
            <a:prstDash val="solid"/>
          </a:ln>
        </p:spPr>
        <p:txBody>
          <a:bodyPr/>
          <a:lstStyle/>
          <a:p>
            <a:endParaRPr lang="en-DE"/>
          </a:p>
        </p:txBody>
      </p:sp>
      <p:sp>
        <p:nvSpPr>
          <p:cNvPr id="11" name="Text 9"/>
          <p:cNvSpPr txBox="1"/>
          <p:nvPr/>
        </p:nvSpPr>
        <p:spPr>
          <a:xfrm>
            <a:off x="6583680" y="2112264"/>
            <a:ext cx="4754880" cy="320040"/>
          </a:xfrm>
          <a:prstGeom prst="rect">
            <a:avLst/>
          </a:prstGeom>
          <a:noFill/>
          <a:ln/>
        </p:spPr>
        <p:txBody>
          <a:bodyPr wrap="square" lIns="0" tIns="0" rIns="0" bIns="0" rtlCol="0" anchor="ctr"/>
          <a:lstStyle/>
          <a:p>
            <a:pPr marL="0" indent="0">
              <a:buNone/>
            </a:pPr>
            <a:r>
              <a:rPr lang="en-US" sz="1350" b="1" dirty="0">
                <a:solidFill>
                  <a:srgbClr val="6E6E6E"/>
                </a:solidFill>
                <a:latin typeface="Calibri" pitchFamily="34" charset="0"/>
                <a:ea typeface="Calibri" pitchFamily="34" charset="-122"/>
                <a:cs typeface="Calibri" pitchFamily="34" charset="-120"/>
              </a:rPr>
              <a:t>Differs by model</a:t>
            </a:r>
            <a:endParaRPr lang="en-US" sz="1350" dirty="0"/>
          </a:p>
        </p:txBody>
      </p:sp>
      <p:sp>
        <p:nvSpPr>
          <p:cNvPr id="12" name="Text 10"/>
          <p:cNvSpPr txBox="1"/>
          <p:nvPr/>
        </p:nvSpPr>
        <p:spPr>
          <a:xfrm>
            <a:off x="6583680" y="2148840"/>
            <a:ext cx="4754880" cy="1554480"/>
          </a:xfrm>
          <a:prstGeom prst="rect">
            <a:avLst/>
          </a:prstGeom>
          <a:noFill/>
          <a:ln/>
        </p:spPr>
        <p:txBody>
          <a:bodyPr wrap="square" lIns="0" tIns="0" rIns="0" bIns="0" rtlCol="0" anchor="ctr"/>
          <a:lstStyle/>
          <a:p>
            <a:pPr marL="171450" lvl="0" indent="-171450">
              <a:buFont typeface="Arial" panose="020B0604020202020204" pitchFamily="34" charset="0"/>
              <a:buChar char="•"/>
            </a:pPr>
            <a:r>
              <a:rPr lang="en-DE" sz="1200" b="1" dirty="0"/>
              <a:t>LightGBM:</a:t>
            </a:r>
            <a:r>
              <a:rPr lang="en-DE" sz="1200" dirty="0"/>
              <a:t> native category dtype (no one-hot), no scaling, log1p on amount for readable importance</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b="1" dirty="0"/>
              <a:t>Baseline (LogReg):</a:t>
            </a:r>
            <a:r>
              <a:rPr lang="en-DE" sz="1200" dirty="0"/>
              <a:t> median-impute, standardise, one-hot — linear models require it</a:t>
            </a:r>
          </a:p>
        </p:txBody>
      </p:sp>
      <p:sp>
        <p:nvSpPr>
          <p:cNvPr id="13" name="Text 11"/>
          <p:cNvSpPr txBox="1"/>
          <p:nvPr/>
        </p:nvSpPr>
        <p:spPr>
          <a:xfrm>
            <a:off x="548640" y="4617720"/>
            <a:ext cx="11064240" cy="4206240"/>
          </a:xfrm>
          <a:prstGeom prst="rect">
            <a:avLst/>
          </a:prstGeom>
          <a:noFill/>
          <a:ln/>
        </p:spPr>
        <p:txBody>
          <a:bodyPr wrap="square" lIns="0" tIns="0" rIns="0" bIns="0" rtlCol="0" anchor="t"/>
          <a:lstStyle/>
          <a:p>
            <a:pPr marL="152400" indent="-152400">
              <a:lnSpc>
                <a:spcPct val="105000"/>
              </a:lnSpc>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No target encoding, no PCA. They add leakage surface and opacity for no measurable gain here.</a:t>
            </a:r>
            <a:endParaRPr lang="en-US" sz="1300" dirty="0"/>
          </a:p>
          <a:p>
            <a:pPr marL="152400" indent="-152400">
              <a:lnSpc>
                <a:spcPct val="105000"/>
              </a:lnSpc>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The result: the tree does the work. That is exactly why the linear baseline is so much weaker.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FEATURE ENGINEERING</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8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Feature engineering: behaviour is the signal</a:t>
            </a:r>
            <a:endParaRPr lang="en-US" sz="2700" dirty="0"/>
          </a:p>
        </p:txBody>
      </p:sp>
      <p:sp>
        <p:nvSpPr>
          <p:cNvPr id="7" name="Shape 5"/>
          <p:cNvSpPr/>
          <p:nvPr/>
        </p:nvSpPr>
        <p:spPr>
          <a:xfrm>
            <a:off x="548640" y="1874520"/>
            <a:ext cx="5349240" cy="1737360"/>
          </a:xfrm>
          <a:prstGeom prst="roundRect">
            <a:avLst>
              <a:gd name="adj" fmla="val 3158"/>
            </a:avLst>
          </a:prstGeom>
          <a:solidFill>
            <a:srgbClr val="F6F3F2"/>
          </a:solidFill>
          <a:ln w="12700">
            <a:solidFill>
              <a:srgbClr val="E4E1DF"/>
            </a:solidFill>
            <a:prstDash val="solid"/>
          </a:ln>
        </p:spPr>
        <p:txBody>
          <a:bodyPr/>
          <a:lstStyle/>
          <a:p>
            <a:endParaRPr lang="en-DE"/>
          </a:p>
        </p:txBody>
      </p:sp>
      <p:sp>
        <p:nvSpPr>
          <p:cNvPr id="8" name="Text 6"/>
          <p:cNvSpPr txBox="1"/>
          <p:nvPr/>
        </p:nvSpPr>
        <p:spPr>
          <a:xfrm>
            <a:off x="822960" y="2020824"/>
            <a:ext cx="480060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Transaction-level  ·  single row, no leakage risk</a:t>
            </a:r>
            <a:endParaRPr lang="en-US" sz="1350" dirty="0"/>
          </a:p>
        </p:txBody>
      </p:sp>
      <p:sp>
        <p:nvSpPr>
          <p:cNvPr id="9" name="Text 7"/>
          <p:cNvSpPr txBox="1"/>
          <p:nvPr/>
        </p:nvSpPr>
        <p:spPr>
          <a:xfrm>
            <a:off x="822960" y="2423160"/>
            <a:ext cx="4800600" cy="1188720"/>
          </a:xfrm>
          <a:prstGeom prst="rect">
            <a:avLst/>
          </a:prstGeom>
          <a:noFill/>
          <a:ln/>
        </p:spPr>
        <p:txBody>
          <a:bodyPr wrap="square" lIns="0" tIns="0" rIns="0" bIns="0" rtlCol="0" anchor="ctr"/>
          <a:lstStyle/>
          <a:p>
            <a:pPr marL="0" indent="0">
              <a:lnSpc>
                <a:spcPct val="105000"/>
              </a:lnSpc>
              <a:buNone/>
            </a:pPr>
            <a:r>
              <a:rPr lang="en-US" sz="1200" dirty="0">
                <a:solidFill>
                  <a:srgbClr val="1A1A1A"/>
                </a:solidFill>
                <a:latin typeface="Calibri" pitchFamily="34" charset="0"/>
                <a:ea typeface="Calibri" pitchFamily="34" charset="-122"/>
                <a:cs typeface="Calibri" pitchFamily="34" charset="-120"/>
              </a:rPr>
              <a:t>log-amount, amount bands, cross-border, currency-mismatch, hour, weekday</a:t>
            </a:r>
            <a:endParaRPr lang="en-US" sz="1200" dirty="0"/>
          </a:p>
        </p:txBody>
      </p:sp>
      <p:sp>
        <p:nvSpPr>
          <p:cNvPr id="10" name="Shape 8"/>
          <p:cNvSpPr/>
          <p:nvPr/>
        </p:nvSpPr>
        <p:spPr>
          <a:xfrm>
            <a:off x="6263640" y="1874520"/>
            <a:ext cx="5349240" cy="1737360"/>
          </a:xfrm>
          <a:prstGeom prst="roundRect">
            <a:avLst>
              <a:gd name="adj" fmla="val 3158"/>
            </a:avLst>
          </a:prstGeom>
          <a:solidFill>
            <a:srgbClr val="F6F3F2"/>
          </a:solidFill>
          <a:ln w="12700">
            <a:solidFill>
              <a:srgbClr val="E4E1DF"/>
            </a:solidFill>
            <a:prstDash val="solid"/>
          </a:ln>
        </p:spPr>
        <p:txBody>
          <a:bodyPr/>
          <a:lstStyle/>
          <a:p>
            <a:endParaRPr lang="en-DE"/>
          </a:p>
        </p:txBody>
      </p:sp>
      <p:sp>
        <p:nvSpPr>
          <p:cNvPr id="11" name="Text 9"/>
          <p:cNvSpPr txBox="1"/>
          <p:nvPr/>
        </p:nvSpPr>
        <p:spPr>
          <a:xfrm>
            <a:off x="6537960" y="2020824"/>
            <a:ext cx="480060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Entity-level  ·  causal, per sender and receiver</a:t>
            </a:r>
            <a:endParaRPr lang="en-US" sz="1350" dirty="0"/>
          </a:p>
        </p:txBody>
      </p:sp>
      <p:sp>
        <p:nvSpPr>
          <p:cNvPr id="12" name="Text 10"/>
          <p:cNvSpPr txBox="1"/>
          <p:nvPr/>
        </p:nvSpPr>
        <p:spPr>
          <a:xfrm>
            <a:off x="6537960" y="2423160"/>
            <a:ext cx="4800600" cy="1188720"/>
          </a:xfrm>
          <a:prstGeom prst="rect">
            <a:avLst/>
          </a:prstGeom>
          <a:noFill/>
          <a:ln/>
        </p:spPr>
        <p:txBody>
          <a:bodyPr wrap="square" lIns="0" tIns="0" rIns="0" bIns="0" rtlCol="0" anchor="ctr"/>
          <a:lstStyle/>
          <a:p>
            <a:pPr marL="0" indent="0">
              <a:lnSpc>
                <a:spcPct val="105000"/>
              </a:lnSpc>
              <a:buNone/>
            </a:pPr>
            <a:r>
              <a:rPr lang="en-US" sz="1200" dirty="0">
                <a:solidFill>
                  <a:srgbClr val="1A1A1A"/>
                </a:solidFill>
                <a:latin typeface="Calibri" pitchFamily="34" charset="0"/>
                <a:ea typeface="Calibri" pitchFamily="34" charset="-122"/>
                <a:cs typeface="Calibri" pitchFamily="34" charset="-120"/>
              </a:rPr>
              <a:t>prior txn count, time since last txn, trailing 1d / 7d / 30d counts, 7d sum and mean, amount vs. the account's recent norm</a:t>
            </a:r>
            <a:endParaRPr lang="en-US" sz="1200" dirty="0"/>
          </a:p>
        </p:txBody>
      </p:sp>
      <p:sp>
        <p:nvSpPr>
          <p:cNvPr id="13" name="Text 11"/>
          <p:cNvSpPr txBox="1"/>
          <p:nvPr/>
        </p:nvSpPr>
        <p:spPr>
          <a:xfrm>
            <a:off x="548640" y="3977640"/>
            <a:ext cx="11064240" cy="4206240"/>
          </a:xfrm>
          <a:prstGeom prst="rect">
            <a:avLst/>
          </a:prstGeom>
          <a:noFill/>
          <a:ln/>
        </p:spPr>
        <p:txBody>
          <a:bodyPr wrap="square" lIns="0" tIns="0" rIns="0" bIns="0" rtlCol="0" anchor="t"/>
          <a:lstStyle/>
          <a:p>
            <a:pPr marL="285750" indent="-285750">
              <a:buFont typeface="Arial" panose="020B0604020202020204" pitchFamily="34" charset="0"/>
              <a:buChar char="•"/>
            </a:pPr>
            <a:r>
              <a:rPr lang="en-DE" sz="1600" dirty="0"/>
              <a:t>Corridor flags: each border or currency hop breaks the trail. Cheap, a clean split, keeps the per-alert reason readable.</a:t>
            </a:r>
          </a:p>
          <a:p>
            <a:pPr marL="285750" indent="-285750">
              <a:buFont typeface="Arial" panose="020B0604020202020204" pitchFamily="34" charset="0"/>
              <a:buChar char="•"/>
            </a:pPr>
            <a:endParaRPr lang="en-DE" sz="1600" dirty="0"/>
          </a:p>
          <a:p>
            <a:pPr marL="285750" indent="-285750">
              <a:buFont typeface="Arial" panose="020B0604020202020204" pitchFamily="34" charset="0"/>
              <a:buChar char="•"/>
            </a:pPr>
            <a:r>
              <a:rPr lang="en-DE" sz="1600" dirty="0"/>
              <a:t>Windows by meaning: 1d catches a burst, 7d the account's rhythm, 30d its baseline. All strictly backward-looking (next slide).</a:t>
            </a:r>
          </a:p>
          <a:p>
            <a:pPr marL="285750" indent="-285750">
              <a:buFont typeface="Arial" panose="020B0604020202020204" pitchFamily="34" charset="0"/>
              <a:buChar char="•"/>
            </a:pPr>
            <a:endParaRPr lang="en-DE" sz="1600" dirty="0"/>
          </a:p>
          <a:p>
            <a:pPr marL="285750" indent="-285750">
              <a:buFont typeface="Arial" panose="020B0604020202020204" pitchFamily="34" charset="0"/>
              <a:buChar char="•"/>
            </a:pPr>
            <a:r>
              <a:rPr lang="en-DE" sz="1600" dirty="0"/>
              <a:t>Excluded on purpose: account IDs (identifiers, not behaviour), Laundering_type (post-hoc label, so leakage).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FEATURE ENGINEERING</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9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Leakage prevention: the features cannot see the future</a:t>
            </a:r>
            <a:endParaRPr lang="en-US" sz="2700" dirty="0"/>
          </a:p>
        </p:txBody>
      </p:sp>
      <p:sp>
        <p:nvSpPr>
          <p:cNvPr id="7" name="Shape 5"/>
          <p:cNvSpPr/>
          <p:nvPr/>
        </p:nvSpPr>
        <p:spPr>
          <a:xfrm>
            <a:off x="548640" y="1783080"/>
            <a:ext cx="11064240" cy="1783080"/>
          </a:xfrm>
          <a:prstGeom prst="roundRect">
            <a:avLst>
              <a:gd name="adj" fmla="val 2051"/>
            </a:avLst>
          </a:prstGeom>
          <a:solidFill>
            <a:srgbClr val="1A1A1A"/>
          </a:solidFill>
          <a:ln/>
        </p:spPr>
        <p:txBody>
          <a:bodyPr/>
          <a:lstStyle/>
          <a:p>
            <a:endParaRPr lang="en-DE"/>
          </a:p>
        </p:txBody>
      </p:sp>
      <p:sp>
        <p:nvSpPr>
          <p:cNvPr id="8" name="Text 6"/>
          <p:cNvSpPr txBox="1"/>
          <p:nvPr/>
        </p:nvSpPr>
        <p:spPr>
          <a:xfrm>
            <a:off x="868680" y="2011680"/>
            <a:ext cx="10424160" cy="1371600"/>
          </a:xfrm>
          <a:prstGeom prst="rect">
            <a:avLst/>
          </a:prstGeom>
          <a:noFill/>
          <a:ln/>
        </p:spPr>
        <p:txBody>
          <a:bodyPr wrap="square" lIns="0" tIns="0" rIns="0" bIns="0" rtlCol="0" anchor="ctr"/>
          <a:lstStyle/>
          <a:p>
            <a:pPr marL="0" indent="0">
              <a:lnSpc>
                <a:spcPct val="100000"/>
              </a:lnSpc>
              <a:spcAft>
                <a:spcPts val="600"/>
              </a:spcAft>
              <a:buNone/>
            </a:pPr>
            <a:r>
              <a:rPr lang="en-US" sz="1150" dirty="0">
                <a:solidFill>
                  <a:srgbClr val="B7B7B7"/>
                </a:solidFill>
                <a:latin typeface="Courier New" pitchFamily="34" charset="0"/>
                <a:ea typeface="Courier New" pitchFamily="34" charset="-122"/>
                <a:cs typeface="Courier New" pitchFamily="34" charset="-120"/>
              </a:rPr>
              <a:t># frame is globally time-sorted on load</a:t>
            </a:r>
            <a:endParaRPr lang="en-US" sz="1150" dirty="0"/>
          </a:p>
          <a:p>
            <a:pPr marL="0" indent="0">
              <a:lnSpc>
                <a:spcPct val="100000"/>
              </a:lnSpc>
              <a:spcAft>
                <a:spcPts val="600"/>
              </a:spcAft>
              <a:buNone/>
            </a:pPr>
            <a:r>
              <a:rPr lang="en-US" sz="1150" dirty="0">
                <a:solidFill>
                  <a:srgbClr val="FFFFFF"/>
                </a:solidFill>
                <a:latin typeface="Courier New" pitchFamily="34" charset="0"/>
                <a:ea typeface="Courier New" pitchFamily="34" charset="-122"/>
                <a:cs typeface="Courier New" pitchFamily="34" charset="-120"/>
              </a:rPr>
              <a:t>g = df.set_index("timestamp").groupby("Sender_account")["Amount"]</a:t>
            </a:r>
            <a:endParaRPr lang="en-US" sz="1150" dirty="0"/>
          </a:p>
          <a:p>
            <a:pPr marL="0" indent="0">
              <a:lnSpc>
                <a:spcPct val="100000"/>
              </a:lnSpc>
              <a:buNone/>
            </a:pPr>
            <a:r>
              <a:rPr lang="en-US" sz="1150" dirty="0">
                <a:solidFill>
                  <a:srgbClr val="FFFFFF"/>
                </a:solidFill>
                <a:latin typeface="Courier New" pitchFamily="34" charset="0"/>
                <a:ea typeface="Courier New" pitchFamily="34" charset="-122"/>
                <a:cs typeface="Courier New" pitchFamily="34" charset="-120"/>
              </a:rPr>
              <a:t>df["sender_cnt_7d"] = g.rolling("7D", </a:t>
            </a:r>
            <a:r>
              <a:rPr lang="en-US" sz="1150" dirty="0">
                <a:solidFill>
                  <a:srgbClr val="F6C177"/>
                </a:solidFill>
                <a:latin typeface="Courier New" pitchFamily="34" charset="0"/>
                <a:ea typeface="Courier New" pitchFamily="34" charset="-122"/>
                <a:cs typeface="Courier New" pitchFamily="34" charset="-120"/>
              </a:rPr>
              <a:t>closed="left"</a:t>
            </a:r>
            <a:r>
              <a:rPr lang="en-US" sz="1150" dirty="0">
                <a:solidFill>
                  <a:srgbClr val="FFFFFF"/>
                </a:solidFill>
                <a:latin typeface="Courier New" pitchFamily="34" charset="0"/>
                <a:ea typeface="Courier New" pitchFamily="34" charset="-122"/>
                <a:cs typeface="Courier New" pitchFamily="34" charset="-120"/>
              </a:rPr>
              <a:t>).count()</a:t>
            </a:r>
            <a:endParaRPr lang="en-US" sz="1150" dirty="0"/>
          </a:p>
          <a:p>
            <a:pPr marL="0" indent="0">
              <a:lnSpc>
                <a:spcPct val="100000"/>
              </a:lnSpc>
              <a:buNone/>
            </a:pPr>
            <a:r>
              <a:rPr lang="en-US" sz="1150" dirty="0">
                <a:solidFill>
                  <a:srgbClr val="B7B7B7"/>
                </a:solidFill>
                <a:latin typeface="Courier New" pitchFamily="34" charset="0"/>
                <a:ea typeface="Courier New" pitchFamily="34" charset="-122"/>
                <a:cs typeface="Courier New" pitchFamily="34" charset="-120"/>
              </a:rPr>
              <a:t>#   closed="left" keeps the window [t-7d, t), so the current transaction is excluded</a:t>
            </a:r>
            <a:endParaRPr lang="en-US" sz="1150" dirty="0"/>
          </a:p>
        </p:txBody>
      </p:sp>
      <p:sp>
        <p:nvSpPr>
          <p:cNvPr id="9" name="Text 7"/>
          <p:cNvSpPr txBox="1"/>
          <p:nvPr/>
        </p:nvSpPr>
        <p:spPr>
          <a:xfrm>
            <a:off x="548640" y="3931920"/>
            <a:ext cx="11064240" cy="420624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closed="left" makes the window [t-7d, t). It stops the instant before the current transaction, so nothing at time t or after can enter it.</a:t>
            </a:r>
            <a:endParaRPr lang="en-US" sz="1300" dirty="0"/>
          </a:p>
          <a:p>
            <a:pPr marL="152400" indent="-152400">
              <a:lnSpc>
                <a:spcPct val="105000"/>
              </a:lnSpc>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Expanding counts use cumcount(), so only rows already seen. An account's first-ever transaction gets count 0, not 1.</a:t>
            </a:r>
            <a:endParaRPr lang="en-US" sz="1300" dirty="0"/>
          </a:p>
          <a:p>
            <a:pPr marL="152400" indent="-152400">
              <a:lnSpc>
                <a:spcPct val="105000"/>
              </a:lnSpc>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Locked by a test: a 3-row toy account asserts the first transaction sees count 0, an empty window, and a null time-since-last. Break causality and the test fails in CI.</a:t>
            </a:r>
            <a:endParaRPr lang="en-US" sz="1300" dirty="0"/>
          </a:p>
          <a:p>
            <a:pPr marL="152400" indent="-152400">
              <a:lnSpc>
                <a:spcPct val="105000"/>
              </a:lnSpc>
              <a:spcAft>
                <a:spcPts val="1000"/>
              </a:spcAft>
              <a:buSzPct val="100000"/>
              <a:buChar char="•"/>
            </a:pPr>
            <a:r>
              <a:rPr lang="en-US" sz="1300" dirty="0">
                <a:solidFill>
                  <a:srgbClr val="1A1A1A"/>
                </a:solidFill>
                <a:latin typeface="Calibri" pitchFamily="34" charset="0"/>
                <a:ea typeface="Calibri" pitchFamily="34" charset="-122"/>
                <a:cs typeface="Calibri" pitchFamily="34" charset="-120"/>
              </a:rPr>
              <a:t>Why it matters: train on future information and the model looks excellent in testing, then collapses in production. It is the most common silent ML failure.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SPLITTING THE DATA</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10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Splitting train, validation and test, strictly by time</a:t>
            </a:r>
            <a:endParaRPr lang="en-US" sz="2700" dirty="0"/>
          </a:p>
        </p:txBody>
      </p:sp>
      <p:sp>
        <p:nvSpPr>
          <p:cNvPr id="7" name="Shape 5"/>
          <p:cNvSpPr/>
          <p:nvPr/>
        </p:nvSpPr>
        <p:spPr>
          <a:xfrm>
            <a:off x="576072" y="2148840"/>
            <a:ext cx="914400" cy="914400"/>
          </a:xfrm>
          <a:prstGeom prst="rect">
            <a:avLst/>
          </a:prstGeom>
          <a:solidFill>
            <a:srgbClr val="1A1A1A"/>
          </a:solidFill>
          <a:ln/>
        </p:spPr>
        <p:txBody>
          <a:bodyPr/>
          <a:lstStyle/>
          <a:p>
            <a:endParaRPr lang="en-DE"/>
          </a:p>
        </p:txBody>
      </p:sp>
      <p:sp>
        <p:nvSpPr>
          <p:cNvPr id="8" name="Text 6"/>
          <p:cNvSpPr txBox="1"/>
          <p:nvPr/>
        </p:nvSpPr>
        <p:spPr>
          <a:xfrm>
            <a:off x="54864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Oct</a:t>
            </a:r>
            <a:endParaRPr lang="en-US" sz="1050" dirty="0"/>
          </a:p>
        </p:txBody>
      </p:sp>
      <p:sp>
        <p:nvSpPr>
          <p:cNvPr id="9" name="Shape 7"/>
          <p:cNvSpPr/>
          <p:nvPr/>
        </p:nvSpPr>
        <p:spPr>
          <a:xfrm>
            <a:off x="1581912" y="2148840"/>
            <a:ext cx="914400" cy="914400"/>
          </a:xfrm>
          <a:prstGeom prst="rect">
            <a:avLst/>
          </a:prstGeom>
          <a:solidFill>
            <a:srgbClr val="1A1A1A"/>
          </a:solidFill>
          <a:ln/>
        </p:spPr>
        <p:txBody>
          <a:bodyPr/>
          <a:lstStyle/>
          <a:p>
            <a:endParaRPr lang="en-DE"/>
          </a:p>
        </p:txBody>
      </p:sp>
      <p:sp>
        <p:nvSpPr>
          <p:cNvPr id="10" name="Text 8"/>
          <p:cNvSpPr txBox="1"/>
          <p:nvPr/>
        </p:nvSpPr>
        <p:spPr>
          <a:xfrm>
            <a:off x="155448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Nov</a:t>
            </a:r>
            <a:endParaRPr lang="en-US" sz="1050" dirty="0"/>
          </a:p>
        </p:txBody>
      </p:sp>
      <p:sp>
        <p:nvSpPr>
          <p:cNvPr id="11" name="Shape 9"/>
          <p:cNvSpPr/>
          <p:nvPr/>
        </p:nvSpPr>
        <p:spPr>
          <a:xfrm>
            <a:off x="2587752" y="2148840"/>
            <a:ext cx="914400" cy="914400"/>
          </a:xfrm>
          <a:prstGeom prst="rect">
            <a:avLst/>
          </a:prstGeom>
          <a:solidFill>
            <a:srgbClr val="1A1A1A"/>
          </a:solidFill>
          <a:ln/>
        </p:spPr>
        <p:txBody>
          <a:bodyPr/>
          <a:lstStyle/>
          <a:p>
            <a:endParaRPr lang="en-DE"/>
          </a:p>
        </p:txBody>
      </p:sp>
      <p:sp>
        <p:nvSpPr>
          <p:cNvPr id="12" name="Text 10"/>
          <p:cNvSpPr txBox="1"/>
          <p:nvPr/>
        </p:nvSpPr>
        <p:spPr>
          <a:xfrm>
            <a:off x="256032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Dec</a:t>
            </a:r>
            <a:endParaRPr lang="en-US" sz="1050" dirty="0"/>
          </a:p>
        </p:txBody>
      </p:sp>
      <p:sp>
        <p:nvSpPr>
          <p:cNvPr id="13" name="Shape 11"/>
          <p:cNvSpPr/>
          <p:nvPr/>
        </p:nvSpPr>
        <p:spPr>
          <a:xfrm>
            <a:off x="3593592" y="2148840"/>
            <a:ext cx="914400" cy="914400"/>
          </a:xfrm>
          <a:prstGeom prst="rect">
            <a:avLst/>
          </a:prstGeom>
          <a:solidFill>
            <a:srgbClr val="1A1A1A"/>
          </a:solidFill>
          <a:ln/>
        </p:spPr>
        <p:txBody>
          <a:bodyPr/>
          <a:lstStyle/>
          <a:p>
            <a:endParaRPr lang="en-DE"/>
          </a:p>
        </p:txBody>
      </p:sp>
      <p:sp>
        <p:nvSpPr>
          <p:cNvPr id="14" name="Text 12"/>
          <p:cNvSpPr txBox="1"/>
          <p:nvPr/>
        </p:nvSpPr>
        <p:spPr>
          <a:xfrm>
            <a:off x="356616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Jan</a:t>
            </a:r>
            <a:endParaRPr lang="en-US" sz="1050" dirty="0"/>
          </a:p>
        </p:txBody>
      </p:sp>
      <p:sp>
        <p:nvSpPr>
          <p:cNvPr id="15" name="Shape 13"/>
          <p:cNvSpPr/>
          <p:nvPr/>
        </p:nvSpPr>
        <p:spPr>
          <a:xfrm>
            <a:off x="4599432" y="2148840"/>
            <a:ext cx="914400" cy="914400"/>
          </a:xfrm>
          <a:prstGeom prst="rect">
            <a:avLst/>
          </a:prstGeom>
          <a:solidFill>
            <a:srgbClr val="1A1A1A"/>
          </a:solidFill>
          <a:ln/>
        </p:spPr>
        <p:txBody>
          <a:bodyPr/>
          <a:lstStyle/>
          <a:p>
            <a:endParaRPr lang="en-DE"/>
          </a:p>
        </p:txBody>
      </p:sp>
      <p:sp>
        <p:nvSpPr>
          <p:cNvPr id="16" name="Text 14"/>
          <p:cNvSpPr txBox="1"/>
          <p:nvPr/>
        </p:nvSpPr>
        <p:spPr>
          <a:xfrm>
            <a:off x="457200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Feb</a:t>
            </a:r>
            <a:endParaRPr lang="en-US" sz="1050" dirty="0"/>
          </a:p>
        </p:txBody>
      </p:sp>
      <p:sp>
        <p:nvSpPr>
          <p:cNvPr id="17" name="Shape 15"/>
          <p:cNvSpPr/>
          <p:nvPr/>
        </p:nvSpPr>
        <p:spPr>
          <a:xfrm>
            <a:off x="5605272" y="2148840"/>
            <a:ext cx="914400" cy="914400"/>
          </a:xfrm>
          <a:prstGeom prst="rect">
            <a:avLst/>
          </a:prstGeom>
          <a:solidFill>
            <a:srgbClr val="1A1A1A"/>
          </a:solidFill>
          <a:ln/>
        </p:spPr>
        <p:txBody>
          <a:bodyPr/>
          <a:lstStyle/>
          <a:p>
            <a:endParaRPr lang="en-DE"/>
          </a:p>
        </p:txBody>
      </p:sp>
      <p:sp>
        <p:nvSpPr>
          <p:cNvPr id="18" name="Text 16"/>
          <p:cNvSpPr txBox="1"/>
          <p:nvPr/>
        </p:nvSpPr>
        <p:spPr>
          <a:xfrm>
            <a:off x="557784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Mar</a:t>
            </a:r>
            <a:endParaRPr lang="en-US" sz="1050" dirty="0"/>
          </a:p>
        </p:txBody>
      </p:sp>
      <p:sp>
        <p:nvSpPr>
          <p:cNvPr id="19" name="Shape 17"/>
          <p:cNvSpPr/>
          <p:nvPr/>
        </p:nvSpPr>
        <p:spPr>
          <a:xfrm>
            <a:off x="6611112" y="2148840"/>
            <a:ext cx="914400" cy="914400"/>
          </a:xfrm>
          <a:prstGeom prst="rect">
            <a:avLst/>
          </a:prstGeom>
          <a:solidFill>
            <a:srgbClr val="1A1A1A"/>
          </a:solidFill>
          <a:ln/>
        </p:spPr>
        <p:txBody>
          <a:bodyPr/>
          <a:lstStyle/>
          <a:p>
            <a:endParaRPr lang="en-DE"/>
          </a:p>
        </p:txBody>
      </p:sp>
      <p:sp>
        <p:nvSpPr>
          <p:cNvPr id="20" name="Text 18"/>
          <p:cNvSpPr txBox="1"/>
          <p:nvPr/>
        </p:nvSpPr>
        <p:spPr>
          <a:xfrm>
            <a:off x="658368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Apr</a:t>
            </a:r>
            <a:endParaRPr lang="en-US" sz="1050" dirty="0"/>
          </a:p>
        </p:txBody>
      </p:sp>
      <p:sp>
        <p:nvSpPr>
          <p:cNvPr id="21" name="Shape 19"/>
          <p:cNvSpPr/>
          <p:nvPr/>
        </p:nvSpPr>
        <p:spPr>
          <a:xfrm>
            <a:off x="7616952" y="2148840"/>
            <a:ext cx="914400" cy="914400"/>
          </a:xfrm>
          <a:prstGeom prst="rect">
            <a:avLst/>
          </a:prstGeom>
          <a:solidFill>
            <a:srgbClr val="1A1A1A"/>
          </a:solidFill>
          <a:ln/>
        </p:spPr>
        <p:txBody>
          <a:bodyPr/>
          <a:lstStyle/>
          <a:p>
            <a:endParaRPr lang="en-DE"/>
          </a:p>
        </p:txBody>
      </p:sp>
      <p:sp>
        <p:nvSpPr>
          <p:cNvPr id="22" name="Text 20"/>
          <p:cNvSpPr txBox="1"/>
          <p:nvPr/>
        </p:nvSpPr>
        <p:spPr>
          <a:xfrm>
            <a:off x="758952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May</a:t>
            </a:r>
            <a:endParaRPr lang="en-US" sz="1050" dirty="0"/>
          </a:p>
        </p:txBody>
      </p:sp>
      <p:sp>
        <p:nvSpPr>
          <p:cNvPr id="23" name="Shape 21"/>
          <p:cNvSpPr/>
          <p:nvPr/>
        </p:nvSpPr>
        <p:spPr>
          <a:xfrm>
            <a:off x="8622792" y="2148840"/>
            <a:ext cx="914400" cy="914400"/>
          </a:xfrm>
          <a:prstGeom prst="rect">
            <a:avLst/>
          </a:prstGeom>
          <a:solidFill>
            <a:srgbClr val="8A8078"/>
          </a:solidFill>
          <a:ln/>
        </p:spPr>
        <p:txBody>
          <a:bodyPr/>
          <a:lstStyle/>
          <a:p>
            <a:endParaRPr lang="en-DE"/>
          </a:p>
        </p:txBody>
      </p:sp>
      <p:sp>
        <p:nvSpPr>
          <p:cNvPr id="24" name="Text 22"/>
          <p:cNvSpPr txBox="1"/>
          <p:nvPr/>
        </p:nvSpPr>
        <p:spPr>
          <a:xfrm>
            <a:off x="859536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Jun</a:t>
            </a:r>
            <a:endParaRPr lang="en-US" sz="1050" dirty="0"/>
          </a:p>
        </p:txBody>
      </p:sp>
      <p:sp>
        <p:nvSpPr>
          <p:cNvPr id="25" name="Shape 23"/>
          <p:cNvSpPr/>
          <p:nvPr/>
        </p:nvSpPr>
        <p:spPr>
          <a:xfrm>
            <a:off x="9628632" y="2148840"/>
            <a:ext cx="914400" cy="914400"/>
          </a:xfrm>
          <a:prstGeom prst="rect">
            <a:avLst/>
          </a:prstGeom>
          <a:solidFill>
            <a:srgbClr val="F0523C"/>
          </a:solidFill>
          <a:ln/>
        </p:spPr>
        <p:txBody>
          <a:bodyPr/>
          <a:lstStyle/>
          <a:p>
            <a:endParaRPr lang="en-DE"/>
          </a:p>
        </p:txBody>
      </p:sp>
      <p:sp>
        <p:nvSpPr>
          <p:cNvPr id="26" name="Text 24"/>
          <p:cNvSpPr txBox="1"/>
          <p:nvPr/>
        </p:nvSpPr>
        <p:spPr>
          <a:xfrm>
            <a:off x="960120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Jul</a:t>
            </a:r>
            <a:endParaRPr lang="en-US" sz="1050" dirty="0"/>
          </a:p>
        </p:txBody>
      </p:sp>
      <p:sp>
        <p:nvSpPr>
          <p:cNvPr id="27" name="Shape 25"/>
          <p:cNvSpPr/>
          <p:nvPr/>
        </p:nvSpPr>
        <p:spPr>
          <a:xfrm>
            <a:off x="10634472" y="2148840"/>
            <a:ext cx="914400" cy="914400"/>
          </a:xfrm>
          <a:prstGeom prst="rect">
            <a:avLst/>
          </a:prstGeom>
          <a:solidFill>
            <a:srgbClr val="F0523C"/>
          </a:solidFill>
          <a:ln/>
        </p:spPr>
        <p:txBody>
          <a:bodyPr/>
          <a:lstStyle/>
          <a:p>
            <a:endParaRPr lang="en-DE"/>
          </a:p>
        </p:txBody>
      </p:sp>
      <p:sp>
        <p:nvSpPr>
          <p:cNvPr id="28" name="Text 26"/>
          <p:cNvSpPr txBox="1"/>
          <p:nvPr/>
        </p:nvSpPr>
        <p:spPr>
          <a:xfrm>
            <a:off x="10607040" y="2441448"/>
            <a:ext cx="1005840" cy="32004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Aug</a:t>
            </a:r>
            <a:endParaRPr lang="en-US" sz="1050" dirty="0"/>
          </a:p>
        </p:txBody>
      </p:sp>
      <p:sp>
        <p:nvSpPr>
          <p:cNvPr id="29" name="Shape 27"/>
          <p:cNvSpPr/>
          <p:nvPr/>
        </p:nvSpPr>
        <p:spPr>
          <a:xfrm>
            <a:off x="576072" y="3310128"/>
            <a:ext cx="7955280" cy="0"/>
          </a:xfrm>
          <a:prstGeom prst="line">
            <a:avLst/>
          </a:prstGeom>
          <a:noFill/>
          <a:ln w="22225">
            <a:solidFill>
              <a:srgbClr val="1A1A1A"/>
            </a:solidFill>
            <a:prstDash val="solid"/>
          </a:ln>
        </p:spPr>
        <p:txBody>
          <a:bodyPr/>
          <a:lstStyle/>
          <a:p>
            <a:endParaRPr lang="en-DE"/>
          </a:p>
        </p:txBody>
      </p:sp>
      <p:sp>
        <p:nvSpPr>
          <p:cNvPr id="30" name="Shape 28"/>
          <p:cNvSpPr/>
          <p:nvPr/>
        </p:nvSpPr>
        <p:spPr>
          <a:xfrm>
            <a:off x="576072" y="3191256"/>
            <a:ext cx="0" cy="118872"/>
          </a:xfrm>
          <a:prstGeom prst="line">
            <a:avLst/>
          </a:prstGeom>
          <a:noFill/>
          <a:ln w="22225">
            <a:solidFill>
              <a:srgbClr val="1A1A1A"/>
            </a:solidFill>
            <a:prstDash val="solid"/>
          </a:ln>
        </p:spPr>
        <p:txBody>
          <a:bodyPr/>
          <a:lstStyle/>
          <a:p>
            <a:endParaRPr lang="en-DE"/>
          </a:p>
        </p:txBody>
      </p:sp>
      <p:sp>
        <p:nvSpPr>
          <p:cNvPr id="31" name="Shape 29"/>
          <p:cNvSpPr/>
          <p:nvPr/>
        </p:nvSpPr>
        <p:spPr>
          <a:xfrm>
            <a:off x="8531352" y="3191256"/>
            <a:ext cx="0" cy="118872"/>
          </a:xfrm>
          <a:prstGeom prst="line">
            <a:avLst/>
          </a:prstGeom>
          <a:noFill/>
          <a:ln w="22225">
            <a:solidFill>
              <a:srgbClr val="1A1A1A"/>
            </a:solidFill>
            <a:prstDash val="solid"/>
          </a:ln>
        </p:spPr>
        <p:txBody>
          <a:bodyPr/>
          <a:lstStyle/>
          <a:p>
            <a:endParaRPr lang="en-DE"/>
          </a:p>
        </p:txBody>
      </p:sp>
      <p:sp>
        <p:nvSpPr>
          <p:cNvPr id="32" name="Shape 30"/>
          <p:cNvSpPr/>
          <p:nvPr/>
        </p:nvSpPr>
        <p:spPr>
          <a:xfrm>
            <a:off x="4553712" y="3310128"/>
            <a:ext cx="0" cy="118872"/>
          </a:xfrm>
          <a:prstGeom prst="line">
            <a:avLst/>
          </a:prstGeom>
          <a:noFill/>
          <a:ln w="22225">
            <a:solidFill>
              <a:srgbClr val="1A1A1A"/>
            </a:solidFill>
            <a:prstDash val="solid"/>
          </a:ln>
        </p:spPr>
        <p:txBody>
          <a:bodyPr/>
          <a:lstStyle/>
          <a:p>
            <a:endParaRPr lang="en-DE"/>
          </a:p>
        </p:txBody>
      </p:sp>
      <p:sp>
        <p:nvSpPr>
          <p:cNvPr id="33" name="Text 31"/>
          <p:cNvSpPr txBox="1"/>
          <p:nvPr/>
        </p:nvSpPr>
        <p:spPr>
          <a:xfrm>
            <a:off x="210312" y="3456432"/>
            <a:ext cx="8686800" cy="457200"/>
          </a:xfrm>
          <a:prstGeom prst="rect">
            <a:avLst/>
          </a:prstGeom>
          <a:noFill/>
          <a:ln/>
        </p:spPr>
        <p:txBody>
          <a:bodyPr wrap="square" lIns="0" tIns="0" rIns="0" bIns="0" rtlCol="0" anchor="ctr"/>
          <a:lstStyle/>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TRAINING</a:t>
            </a:r>
            <a:endParaRPr lang="en-US" sz="1100" dirty="0"/>
          </a:p>
          <a:p>
            <a:pPr marL="0" indent="0" algn="ctr">
              <a:lnSpc>
                <a:spcPct val="105000"/>
              </a:lnSpc>
              <a:buNone/>
            </a:pPr>
            <a:r>
              <a:rPr lang="en-US" sz="1100" b="1" dirty="0">
                <a:solidFill>
                  <a:srgbClr val="1A1A1A"/>
                </a:solidFill>
                <a:latin typeface="Calibri" pitchFamily="34" charset="0"/>
                <a:ea typeface="Calibri" pitchFamily="34" charset="-122"/>
                <a:cs typeface="Calibri" pitchFamily="34" charset="-120"/>
              </a:rPr>
              <a:t>8 months  ·  Oct 2022 to May 2023</a:t>
            </a:r>
            <a:endParaRPr lang="en-US" sz="1100" dirty="0"/>
          </a:p>
        </p:txBody>
      </p:sp>
      <p:sp>
        <p:nvSpPr>
          <p:cNvPr id="34" name="Shape 32"/>
          <p:cNvSpPr/>
          <p:nvPr/>
        </p:nvSpPr>
        <p:spPr>
          <a:xfrm>
            <a:off x="8622792" y="3310128"/>
            <a:ext cx="914400" cy="0"/>
          </a:xfrm>
          <a:prstGeom prst="line">
            <a:avLst/>
          </a:prstGeom>
          <a:noFill/>
          <a:ln w="22225">
            <a:solidFill>
              <a:srgbClr val="8A8078"/>
            </a:solidFill>
            <a:prstDash val="solid"/>
          </a:ln>
        </p:spPr>
        <p:txBody>
          <a:bodyPr/>
          <a:lstStyle/>
          <a:p>
            <a:endParaRPr lang="en-DE"/>
          </a:p>
        </p:txBody>
      </p:sp>
      <p:sp>
        <p:nvSpPr>
          <p:cNvPr id="35" name="Shape 33"/>
          <p:cNvSpPr/>
          <p:nvPr/>
        </p:nvSpPr>
        <p:spPr>
          <a:xfrm>
            <a:off x="8622792" y="3191256"/>
            <a:ext cx="0" cy="118872"/>
          </a:xfrm>
          <a:prstGeom prst="line">
            <a:avLst/>
          </a:prstGeom>
          <a:noFill/>
          <a:ln w="22225">
            <a:solidFill>
              <a:srgbClr val="8A8078"/>
            </a:solidFill>
            <a:prstDash val="solid"/>
          </a:ln>
        </p:spPr>
        <p:txBody>
          <a:bodyPr/>
          <a:lstStyle/>
          <a:p>
            <a:endParaRPr lang="en-DE"/>
          </a:p>
        </p:txBody>
      </p:sp>
      <p:sp>
        <p:nvSpPr>
          <p:cNvPr id="36" name="Shape 34"/>
          <p:cNvSpPr/>
          <p:nvPr/>
        </p:nvSpPr>
        <p:spPr>
          <a:xfrm>
            <a:off x="9537192" y="3191256"/>
            <a:ext cx="0" cy="118872"/>
          </a:xfrm>
          <a:prstGeom prst="line">
            <a:avLst/>
          </a:prstGeom>
          <a:noFill/>
          <a:ln w="22225">
            <a:solidFill>
              <a:srgbClr val="8A8078"/>
            </a:solidFill>
            <a:prstDash val="solid"/>
          </a:ln>
        </p:spPr>
        <p:txBody>
          <a:bodyPr/>
          <a:lstStyle/>
          <a:p>
            <a:endParaRPr lang="en-DE"/>
          </a:p>
        </p:txBody>
      </p:sp>
      <p:sp>
        <p:nvSpPr>
          <p:cNvPr id="37" name="Shape 35"/>
          <p:cNvSpPr/>
          <p:nvPr/>
        </p:nvSpPr>
        <p:spPr>
          <a:xfrm>
            <a:off x="9079992" y="3310128"/>
            <a:ext cx="0" cy="118872"/>
          </a:xfrm>
          <a:prstGeom prst="line">
            <a:avLst/>
          </a:prstGeom>
          <a:noFill/>
          <a:ln w="22225">
            <a:solidFill>
              <a:srgbClr val="8A8078"/>
            </a:solidFill>
            <a:prstDash val="solid"/>
          </a:ln>
        </p:spPr>
        <p:txBody>
          <a:bodyPr/>
          <a:lstStyle/>
          <a:p>
            <a:endParaRPr lang="en-DE"/>
          </a:p>
        </p:txBody>
      </p:sp>
      <p:sp>
        <p:nvSpPr>
          <p:cNvPr id="38" name="Text 36"/>
          <p:cNvSpPr txBox="1"/>
          <p:nvPr/>
        </p:nvSpPr>
        <p:spPr>
          <a:xfrm>
            <a:off x="8257032" y="3456432"/>
            <a:ext cx="1645920" cy="457200"/>
          </a:xfrm>
          <a:prstGeom prst="rect">
            <a:avLst/>
          </a:prstGeom>
          <a:noFill/>
          <a:ln/>
        </p:spPr>
        <p:txBody>
          <a:bodyPr wrap="square" lIns="0" tIns="0" rIns="0" bIns="0" rtlCol="0" anchor="ctr"/>
          <a:lstStyle/>
          <a:p>
            <a:pPr marL="0" indent="0" algn="ctr">
              <a:lnSpc>
                <a:spcPct val="105000"/>
              </a:lnSpc>
              <a:buNone/>
            </a:pPr>
            <a:r>
              <a:rPr lang="en-US" sz="1100" b="1" dirty="0">
                <a:solidFill>
                  <a:srgbClr val="8A8078"/>
                </a:solidFill>
                <a:latin typeface="Calibri" pitchFamily="34" charset="0"/>
                <a:ea typeface="Calibri" pitchFamily="34" charset="-122"/>
                <a:cs typeface="Calibri" pitchFamily="34" charset="-120"/>
              </a:rPr>
              <a:t>VALIDATION</a:t>
            </a:r>
            <a:endParaRPr lang="en-US" sz="1100" dirty="0"/>
          </a:p>
          <a:p>
            <a:pPr marL="0" indent="0" algn="ctr">
              <a:lnSpc>
                <a:spcPct val="105000"/>
              </a:lnSpc>
              <a:buNone/>
            </a:pPr>
            <a:r>
              <a:rPr lang="en-US" sz="1100" b="1" dirty="0">
                <a:solidFill>
                  <a:srgbClr val="8A8078"/>
                </a:solidFill>
                <a:latin typeface="Calibri" pitchFamily="34" charset="0"/>
                <a:ea typeface="Calibri" pitchFamily="34" charset="-122"/>
                <a:cs typeface="Calibri" pitchFamily="34" charset="-120"/>
              </a:rPr>
              <a:t>June  ·  threshold only</a:t>
            </a:r>
            <a:endParaRPr lang="en-US" sz="1100" dirty="0"/>
          </a:p>
        </p:txBody>
      </p:sp>
      <p:sp>
        <p:nvSpPr>
          <p:cNvPr id="39" name="Shape 37"/>
          <p:cNvSpPr/>
          <p:nvPr/>
        </p:nvSpPr>
        <p:spPr>
          <a:xfrm>
            <a:off x="9628632" y="3310128"/>
            <a:ext cx="1920240" cy="0"/>
          </a:xfrm>
          <a:prstGeom prst="line">
            <a:avLst/>
          </a:prstGeom>
          <a:noFill/>
          <a:ln w="22225">
            <a:solidFill>
              <a:srgbClr val="F0523C"/>
            </a:solidFill>
            <a:prstDash val="solid"/>
          </a:ln>
        </p:spPr>
        <p:txBody>
          <a:bodyPr/>
          <a:lstStyle/>
          <a:p>
            <a:endParaRPr lang="en-DE"/>
          </a:p>
        </p:txBody>
      </p:sp>
      <p:sp>
        <p:nvSpPr>
          <p:cNvPr id="40" name="Shape 38"/>
          <p:cNvSpPr/>
          <p:nvPr/>
        </p:nvSpPr>
        <p:spPr>
          <a:xfrm>
            <a:off x="9628632" y="3191256"/>
            <a:ext cx="0" cy="118872"/>
          </a:xfrm>
          <a:prstGeom prst="line">
            <a:avLst/>
          </a:prstGeom>
          <a:noFill/>
          <a:ln w="22225">
            <a:solidFill>
              <a:srgbClr val="F0523C"/>
            </a:solidFill>
            <a:prstDash val="solid"/>
          </a:ln>
        </p:spPr>
        <p:txBody>
          <a:bodyPr/>
          <a:lstStyle/>
          <a:p>
            <a:endParaRPr lang="en-DE"/>
          </a:p>
        </p:txBody>
      </p:sp>
      <p:sp>
        <p:nvSpPr>
          <p:cNvPr id="41" name="Shape 39"/>
          <p:cNvSpPr/>
          <p:nvPr/>
        </p:nvSpPr>
        <p:spPr>
          <a:xfrm>
            <a:off x="11548872" y="3191256"/>
            <a:ext cx="0" cy="118872"/>
          </a:xfrm>
          <a:prstGeom prst="line">
            <a:avLst/>
          </a:prstGeom>
          <a:noFill/>
          <a:ln w="22225">
            <a:solidFill>
              <a:srgbClr val="F0523C"/>
            </a:solidFill>
            <a:prstDash val="solid"/>
          </a:ln>
        </p:spPr>
        <p:txBody>
          <a:bodyPr/>
          <a:lstStyle/>
          <a:p>
            <a:endParaRPr lang="en-DE"/>
          </a:p>
        </p:txBody>
      </p:sp>
      <p:sp>
        <p:nvSpPr>
          <p:cNvPr id="42" name="Shape 40"/>
          <p:cNvSpPr/>
          <p:nvPr/>
        </p:nvSpPr>
        <p:spPr>
          <a:xfrm>
            <a:off x="10588752" y="3310128"/>
            <a:ext cx="0" cy="118872"/>
          </a:xfrm>
          <a:prstGeom prst="line">
            <a:avLst/>
          </a:prstGeom>
          <a:noFill/>
          <a:ln w="22225">
            <a:solidFill>
              <a:srgbClr val="F0523C"/>
            </a:solidFill>
            <a:prstDash val="solid"/>
          </a:ln>
        </p:spPr>
        <p:txBody>
          <a:bodyPr/>
          <a:lstStyle/>
          <a:p>
            <a:endParaRPr lang="en-DE"/>
          </a:p>
        </p:txBody>
      </p:sp>
      <p:sp>
        <p:nvSpPr>
          <p:cNvPr id="43" name="Text 41"/>
          <p:cNvSpPr txBox="1"/>
          <p:nvPr/>
        </p:nvSpPr>
        <p:spPr>
          <a:xfrm>
            <a:off x="9262872" y="3456432"/>
            <a:ext cx="2651760" cy="457200"/>
          </a:xfrm>
          <a:prstGeom prst="rect">
            <a:avLst/>
          </a:prstGeom>
          <a:noFill/>
          <a:ln/>
        </p:spPr>
        <p:txBody>
          <a:bodyPr wrap="square" lIns="0" tIns="0" rIns="0" bIns="0" rtlCol="0" anchor="ctr"/>
          <a:lstStyle/>
          <a:p>
            <a:pPr marL="0" indent="0" algn="ctr">
              <a:lnSpc>
                <a:spcPct val="105000"/>
              </a:lnSpc>
              <a:buNone/>
            </a:pPr>
            <a:r>
              <a:rPr lang="en-US" sz="1100" b="1" dirty="0">
                <a:solidFill>
                  <a:srgbClr val="F0523C"/>
                </a:solidFill>
                <a:latin typeface="Calibri" pitchFamily="34" charset="0"/>
                <a:ea typeface="Calibri" pitchFamily="34" charset="-122"/>
                <a:cs typeface="Calibri" pitchFamily="34" charset="-120"/>
              </a:rPr>
              <a:t>TEST</a:t>
            </a:r>
            <a:endParaRPr lang="en-US" sz="1100" dirty="0"/>
          </a:p>
          <a:p>
            <a:pPr marL="0" indent="0" algn="ctr">
              <a:lnSpc>
                <a:spcPct val="105000"/>
              </a:lnSpc>
              <a:buNone/>
            </a:pPr>
            <a:r>
              <a:rPr lang="en-US" sz="1100" b="1" dirty="0">
                <a:solidFill>
                  <a:srgbClr val="F0523C"/>
                </a:solidFill>
                <a:latin typeface="Calibri" pitchFamily="34" charset="0"/>
                <a:ea typeface="Calibri" pitchFamily="34" charset="-122"/>
                <a:cs typeface="Calibri" pitchFamily="34" charset="-120"/>
              </a:rPr>
              <a:t>Jul + Aug  ·  touched once</a:t>
            </a:r>
            <a:endParaRPr lang="en-US" sz="1100" dirty="0"/>
          </a:p>
        </p:txBody>
      </p:sp>
      <p:sp>
        <p:nvSpPr>
          <p:cNvPr id="44" name="Text 42"/>
          <p:cNvSpPr txBox="1"/>
          <p:nvPr/>
        </p:nvSpPr>
        <p:spPr>
          <a:xfrm>
            <a:off x="548640" y="4434840"/>
            <a:ext cx="11064240" cy="4206240"/>
          </a:xfrm>
          <a:prstGeom prst="rect">
            <a:avLst/>
          </a:prstGeom>
          <a:noFill/>
          <a:ln/>
        </p:spPr>
        <p:txBody>
          <a:bodyPr wrap="square" lIns="0" tIns="0" rIns="0" bIns="0" rtlCol="0" anchor="t"/>
          <a:lstStyle/>
          <a:p>
            <a:pPr marL="152400" indent="-152400">
              <a:lnSpc>
                <a:spcPct val="105000"/>
              </a:lnSpc>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No shuffling. A random split lets August behaviour inform an October prediction, which inflates the score and hides model decay.</a:t>
            </a:r>
            <a:endParaRPr lang="en-US" sz="1250" dirty="0"/>
          </a:p>
          <a:p>
            <a:pPr marL="152400" indent="-152400">
              <a:lnSpc>
                <a:spcPct val="105000"/>
              </a:lnSpc>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Rejected alternative: account-grouped k-fold. It removes account leakage but still mixes time periods.</a:t>
            </a:r>
            <a:endParaRPr lang="en-US" sz="1250" dirty="0"/>
          </a:p>
          <a:p>
            <a:pPr marL="152400" indent="-152400">
              <a:lnSpc>
                <a:spcPct val="105000"/>
              </a:lnSpc>
              <a:spcAft>
                <a:spcPts val="900"/>
              </a:spcAft>
              <a:buSzPct val="100000"/>
              <a:buChar char="•"/>
            </a:pPr>
            <a:r>
              <a:rPr lang="en-US" sz="1250" dirty="0">
                <a:solidFill>
                  <a:srgbClr val="1A1A1A"/>
                </a:solidFill>
                <a:latin typeface="Calibri" pitchFamily="34" charset="0"/>
                <a:ea typeface="Calibri" pitchFamily="34" charset="-122"/>
                <a:cs typeface="Calibri" pitchFamily="34" charset="-120"/>
              </a:rPr>
              <a:t>Entity features are computed over the full timeline before splitting, so validation and test rows carry real history, exactly as at inference. Encoders are fit on train only.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CLASS IMBALANCE</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11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Handling class imbalance: a threshold problem</a:t>
            </a:r>
            <a:endParaRPr lang="en-US" sz="2700" dirty="0"/>
          </a:p>
        </p:txBody>
      </p:sp>
      <p:pic>
        <p:nvPicPr>
          <p:cNvPr id="7" name="Image 0" descr="preencoded.png"/>
          <p:cNvPicPr>
            <a:picLocks noChangeAspect="1"/>
          </p:cNvPicPr>
          <p:nvPr/>
        </p:nvPicPr>
        <p:blipFill>
          <a:blip r:embed="rId3"/>
          <a:stretch>
            <a:fillRect/>
          </a:stretch>
        </p:blipFill>
        <p:spPr>
          <a:xfrm>
            <a:off x="548640" y="1874520"/>
            <a:ext cx="6126480" cy="4114800"/>
          </a:xfrm>
          <a:prstGeom prst="rect">
            <a:avLst/>
          </a:prstGeom>
        </p:spPr>
      </p:pic>
      <p:sp>
        <p:nvSpPr>
          <p:cNvPr id="8" name="Text 5"/>
          <p:cNvSpPr txBox="1"/>
          <p:nvPr/>
        </p:nvSpPr>
        <p:spPr>
          <a:xfrm>
            <a:off x="548640" y="6035040"/>
            <a:ext cx="6583680" cy="320040"/>
          </a:xfrm>
          <a:prstGeom prst="rect">
            <a:avLst/>
          </a:prstGeom>
          <a:noFill/>
          <a:ln/>
        </p:spPr>
        <p:txBody>
          <a:bodyPr wrap="square" lIns="0" tIns="0" rIns="0" bIns="0" rtlCol="0" anchor="ctr"/>
          <a:lstStyle/>
          <a:p>
            <a:pPr marL="0" indent="0">
              <a:buNone/>
            </a:pPr>
            <a:r>
              <a:rPr lang="en-US" sz="950" i="1" dirty="0">
                <a:solidFill>
                  <a:srgbClr val="6E6E6E"/>
                </a:solidFill>
                <a:latin typeface="Calibri" pitchFamily="34" charset="0"/>
                <a:ea typeface="Calibri" pitchFamily="34" charset="-122"/>
                <a:cs typeface="Calibri" pitchFamily="34" charset="-120"/>
              </a:rPr>
              <a:t>chart data pulled live from MLflow:  </a:t>
            </a:r>
            <a:r>
              <a:rPr lang="en-US" sz="950" i="1" dirty="0" err="1">
                <a:solidFill>
                  <a:srgbClr val="1A1A1A"/>
                </a:solidFill>
                <a:latin typeface="Courier New" pitchFamily="34" charset="0"/>
                <a:ea typeface="Courier New" pitchFamily="34" charset="-122"/>
                <a:cs typeface="Courier New" pitchFamily="34" charset="-120"/>
              </a:rPr>
              <a:t>mlflow.search_runs</a:t>
            </a:r>
            <a:r>
              <a:rPr lang="en-US" sz="950" i="1" dirty="0">
                <a:solidFill>
                  <a:srgbClr val="1A1A1A"/>
                </a:solidFill>
                <a:latin typeface="Courier New" pitchFamily="34" charset="0"/>
                <a:ea typeface="Courier New" pitchFamily="34" charset="-122"/>
                <a:cs typeface="Courier New" pitchFamily="34" charset="-120"/>
              </a:rPr>
              <a:t>(experiment_names=["aml-part1"])</a:t>
            </a:r>
            <a:endParaRPr lang="en-US" sz="950" dirty="0"/>
          </a:p>
        </p:txBody>
      </p:sp>
      <p:sp>
        <p:nvSpPr>
          <p:cNvPr id="9" name="Text 6"/>
          <p:cNvSpPr txBox="1"/>
          <p:nvPr/>
        </p:nvSpPr>
        <p:spPr>
          <a:xfrm>
            <a:off x="6858000" y="1965960"/>
            <a:ext cx="4754880" cy="420624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DE" sz="1400" dirty="0"/>
              <a:t>Three options: resample, cost-weight the loss, or move the threshold</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Chosen: leave the loss alone, handle it at the threshold</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Cost-weight by the ~1000x ratio → PR-AUC collapses to 0.008</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That's below the 0.012 linear baseline</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Why: it floods the queue with borderline negatives</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ROC-AUC barely moves (0.86 → 0.99) — wrong metric to steer by</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SMOTE rejected: invents impossible categorical / count rows</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SMOTE also has no place in a time-ordered split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THE MODEL</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12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The model: LightGBM, gradient-boosted trees</a:t>
            </a:r>
            <a:endParaRPr lang="en-US" sz="2700" dirty="0"/>
          </a:p>
        </p:txBody>
      </p:sp>
      <p:sp>
        <p:nvSpPr>
          <p:cNvPr id="7" name="Shape 5"/>
          <p:cNvSpPr/>
          <p:nvPr/>
        </p:nvSpPr>
        <p:spPr>
          <a:xfrm>
            <a:off x="548640" y="1965960"/>
            <a:ext cx="3383280" cy="2743200"/>
          </a:xfrm>
          <a:prstGeom prst="roundRect">
            <a:avLst>
              <a:gd name="adj" fmla="val 2000"/>
            </a:avLst>
          </a:prstGeom>
          <a:solidFill>
            <a:srgbClr val="F6F3F2"/>
          </a:solidFill>
          <a:ln w="12700">
            <a:solidFill>
              <a:srgbClr val="E4E1DF"/>
            </a:solidFill>
            <a:prstDash val="solid"/>
          </a:ln>
        </p:spPr>
        <p:txBody>
          <a:bodyPr/>
          <a:lstStyle/>
          <a:p>
            <a:endParaRPr lang="en-DE"/>
          </a:p>
        </p:txBody>
      </p:sp>
      <p:sp>
        <p:nvSpPr>
          <p:cNvPr id="8" name="Text 6"/>
          <p:cNvSpPr txBox="1"/>
          <p:nvPr/>
        </p:nvSpPr>
        <p:spPr>
          <a:xfrm>
            <a:off x="822960" y="2112264"/>
            <a:ext cx="283464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INPUT  ·  26 features / transaction</a:t>
            </a:r>
            <a:endParaRPr lang="en-US" sz="1350" dirty="0"/>
          </a:p>
        </p:txBody>
      </p:sp>
      <p:sp>
        <p:nvSpPr>
          <p:cNvPr id="9" name="Text 7"/>
          <p:cNvSpPr txBox="1"/>
          <p:nvPr/>
        </p:nvSpPr>
        <p:spPr>
          <a:xfrm>
            <a:off x="841248" y="2532888"/>
            <a:ext cx="2834640" cy="2011680"/>
          </a:xfrm>
          <a:prstGeom prst="rect">
            <a:avLst/>
          </a:prstGeom>
          <a:noFill/>
          <a:ln/>
        </p:spPr>
        <p:txBody>
          <a:bodyPr wrap="square" lIns="0" tIns="0" rIns="0" bIns="0" rtlCol="0" anchor="ctr"/>
          <a:lstStyle/>
          <a:p>
            <a:pPr marL="342900" indent="-342900">
              <a:lnSpc>
                <a:spcPct val="103000"/>
              </a:lnSpc>
              <a:spcAft>
                <a:spcPts val="500"/>
              </a:spcAft>
              <a:buSzPct val="100000"/>
              <a:buChar char="•"/>
            </a:pPr>
            <a:r>
              <a:rPr lang="en-US" sz="1100" b="1" dirty="0">
                <a:solidFill>
                  <a:srgbClr val="1A1A1A"/>
                </a:solidFill>
                <a:latin typeface="Calibri" pitchFamily="34" charset="0"/>
                <a:ea typeface="Calibri" pitchFamily="34" charset="-122"/>
                <a:cs typeface="Calibri" pitchFamily="34" charset="-120"/>
              </a:rPr>
              <a:t>7  transaction-level</a:t>
            </a:r>
            <a:endParaRPr lang="en-US" sz="1100" dirty="0"/>
          </a:p>
          <a:p>
            <a:pPr marL="0" indent="0">
              <a:lnSpc>
                <a:spcPct val="103000"/>
              </a:lnSpc>
              <a:spcAft>
                <a:spcPts val="800"/>
              </a:spcAft>
              <a:buNone/>
            </a:pPr>
            <a:r>
              <a:rPr lang="en-US" sz="950" dirty="0">
                <a:solidFill>
                  <a:srgbClr val="6E6E6E"/>
                </a:solidFill>
                <a:latin typeface="Calibri" pitchFamily="34" charset="0"/>
                <a:ea typeface="Calibri" pitchFamily="34" charset="-122"/>
                <a:cs typeface="Calibri" pitchFamily="34" charset="-120"/>
              </a:rPr>
              <a:t>             amount, corridor flags, time</a:t>
            </a:r>
            <a:endParaRPr lang="en-US" sz="1100" dirty="0"/>
          </a:p>
          <a:p>
            <a:pPr marL="342900" indent="-342900">
              <a:lnSpc>
                <a:spcPct val="103000"/>
              </a:lnSpc>
              <a:spcAft>
                <a:spcPts val="500"/>
              </a:spcAft>
              <a:buSzPct val="100000"/>
              <a:buChar char="•"/>
            </a:pPr>
            <a:r>
              <a:rPr lang="en-US" sz="1100" b="1" dirty="0">
                <a:solidFill>
                  <a:srgbClr val="1A1A1A"/>
                </a:solidFill>
                <a:latin typeface="Calibri" pitchFamily="34" charset="0"/>
                <a:ea typeface="Calibri" pitchFamily="34" charset="-122"/>
                <a:cs typeface="Calibri" pitchFamily="34" charset="-120"/>
              </a:rPr>
              <a:t>14  account-behaviour</a:t>
            </a:r>
            <a:endParaRPr lang="en-US" sz="1100" dirty="0"/>
          </a:p>
          <a:p>
            <a:pPr marL="0" indent="0">
              <a:lnSpc>
                <a:spcPct val="103000"/>
              </a:lnSpc>
              <a:spcAft>
                <a:spcPts val="800"/>
              </a:spcAft>
              <a:buNone/>
            </a:pPr>
            <a:r>
              <a:rPr lang="en-US" sz="950" dirty="0">
                <a:solidFill>
                  <a:srgbClr val="6E6E6E"/>
                </a:solidFill>
                <a:latin typeface="Calibri" pitchFamily="34" charset="0"/>
                <a:ea typeface="Calibri" pitchFamily="34" charset="-122"/>
                <a:cs typeface="Calibri" pitchFamily="34" charset="-120"/>
              </a:rPr>
              <a:t>             counts, velocity, amount vs. norm; sender and </a:t>
            </a:r>
          </a:p>
          <a:p>
            <a:pPr marL="0" indent="0">
              <a:lnSpc>
                <a:spcPct val="103000"/>
              </a:lnSpc>
              <a:spcAft>
                <a:spcPts val="800"/>
              </a:spcAft>
              <a:buNone/>
            </a:pPr>
            <a:r>
              <a:rPr lang="en-US" sz="950" dirty="0">
                <a:solidFill>
                  <a:srgbClr val="6E6E6E"/>
                </a:solidFill>
                <a:latin typeface="Calibri" pitchFamily="34" charset="0"/>
                <a:ea typeface="Calibri" pitchFamily="34" charset="-122"/>
                <a:cs typeface="Calibri" pitchFamily="34" charset="-120"/>
              </a:rPr>
              <a:t>             receiver</a:t>
            </a:r>
            <a:endParaRPr lang="en-US" sz="1100" dirty="0"/>
          </a:p>
          <a:p>
            <a:pPr marL="342900" indent="-342900">
              <a:lnSpc>
                <a:spcPct val="103000"/>
              </a:lnSpc>
              <a:spcAft>
                <a:spcPts val="500"/>
              </a:spcAft>
              <a:buSzPct val="100000"/>
              <a:buChar char="•"/>
            </a:pPr>
            <a:r>
              <a:rPr lang="en-US" sz="1100" b="1" dirty="0">
                <a:solidFill>
                  <a:srgbClr val="1A1A1A"/>
                </a:solidFill>
                <a:latin typeface="Calibri" pitchFamily="34" charset="0"/>
                <a:ea typeface="Calibri" pitchFamily="34" charset="-122"/>
                <a:cs typeface="Calibri" pitchFamily="34" charset="-120"/>
              </a:rPr>
              <a:t>5  categorical</a:t>
            </a:r>
            <a:endParaRPr lang="en-US" sz="1100" dirty="0"/>
          </a:p>
          <a:p>
            <a:pPr marL="0" indent="0">
              <a:lnSpc>
                <a:spcPct val="103000"/>
              </a:lnSpc>
              <a:buNone/>
            </a:pPr>
            <a:r>
              <a:rPr lang="en-US" sz="950" dirty="0">
                <a:solidFill>
                  <a:srgbClr val="6E6E6E"/>
                </a:solidFill>
                <a:latin typeface="Calibri" pitchFamily="34" charset="0"/>
                <a:ea typeface="Calibri" pitchFamily="34" charset="-122"/>
                <a:cs typeface="Calibri" pitchFamily="34" charset="-120"/>
              </a:rPr>
              <a:t>             payment type, currencies, bank locations</a:t>
            </a:r>
            <a:endParaRPr lang="en-US" sz="1100" dirty="0"/>
          </a:p>
        </p:txBody>
      </p:sp>
      <p:sp>
        <p:nvSpPr>
          <p:cNvPr id="10" name="Shape 8"/>
          <p:cNvSpPr/>
          <p:nvPr/>
        </p:nvSpPr>
        <p:spPr>
          <a:xfrm>
            <a:off x="4498848" y="1965960"/>
            <a:ext cx="3163824" cy="2743200"/>
          </a:xfrm>
          <a:prstGeom prst="roundRect">
            <a:avLst>
              <a:gd name="adj" fmla="val 2000"/>
            </a:avLst>
          </a:prstGeom>
          <a:solidFill>
            <a:srgbClr val="1A1A1A"/>
          </a:solidFill>
          <a:ln/>
        </p:spPr>
        <p:txBody>
          <a:bodyPr/>
          <a:lstStyle/>
          <a:p>
            <a:endParaRPr lang="en-DE"/>
          </a:p>
        </p:txBody>
      </p:sp>
      <p:sp>
        <p:nvSpPr>
          <p:cNvPr id="11" name="Text 9"/>
          <p:cNvSpPr txBox="1"/>
          <p:nvPr/>
        </p:nvSpPr>
        <p:spPr>
          <a:xfrm>
            <a:off x="4498848" y="2240280"/>
            <a:ext cx="3163824"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LightGBM</a:t>
            </a:r>
            <a:endParaRPr lang="en-US" sz="1800" dirty="0"/>
          </a:p>
        </p:txBody>
      </p:sp>
      <p:sp>
        <p:nvSpPr>
          <p:cNvPr id="12" name="Text 10"/>
          <p:cNvSpPr txBox="1"/>
          <p:nvPr/>
        </p:nvSpPr>
        <p:spPr>
          <a:xfrm>
            <a:off x="4818888" y="2630754"/>
            <a:ext cx="2523744" cy="1645920"/>
          </a:xfrm>
          <a:prstGeom prst="rect">
            <a:avLst/>
          </a:prstGeom>
          <a:noFill/>
          <a:ln/>
        </p:spPr>
        <p:txBody>
          <a:bodyPr wrap="square" lIns="0" tIns="0" rIns="0" bIns="0" rtlCol="0" anchor="ctr"/>
          <a:lstStyle/>
          <a:p>
            <a:pPr marL="342900" indent="-342900">
              <a:lnSpc>
                <a:spcPct val="105000"/>
              </a:lnSpc>
              <a:spcAft>
                <a:spcPts val="700"/>
              </a:spcAft>
              <a:buSzPct val="100000"/>
              <a:buChar char="•"/>
            </a:pPr>
            <a:r>
              <a:rPr lang="en-US" sz="1050" dirty="0">
                <a:solidFill>
                  <a:srgbClr val="F6D9D2"/>
                </a:solidFill>
                <a:latin typeface="Calibri" pitchFamily="34" charset="0"/>
                <a:ea typeface="Calibri" pitchFamily="34" charset="-122"/>
                <a:cs typeface="Calibri" pitchFamily="34" charset="-120"/>
              </a:rPr>
              <a:t>~1,900 shallow trees, depth 4</a:t>
            </a:r>
            <a:endParaRPr lang="en-US" sz="1050" dirty="0"/>
          </a:p>
          <a:p>
            <a:pPr marL="342900" indent="-342900">
              <a:lnSpc>
                <a:spcPct val="105000"/>
              </a:lnSpc>
              <a:spcAft>
                <a:spcPts val="700"/>
              </a:spcAft>
              <a:buSzPct val="100000"/>
              <a:buChar char="•"/>
            </a:pPr>
            <a:r>
              <a:rPr lang="en-US" sz="1050" dirty="0">
                <a:solidFill>
                  <a:srgbClr val="F6D9D2"/>
                </a:solidFill>
                <a:latin typeface="Calibri" pitchFamily="34" charset="0"/>
                <a:ea typeface="Calibri" pitchFamily="34" charset="-122"/>
                <a:cs typeface="Calibri" pitchFamily="34" charset="-120"/>
              </a:rPr>
              <a:t>each tree corrects the last; model is their sum</a:t>
            </a:r>
            <a:endParaRPr lang="en-US" sz="1050" dirty="0"/>
          </a:p>
          <a:p>
            <a:pPr marL="342900" indent="-342900">
              <a:lnSpc>
                <a:spcPct val="105000"/>
              </a:lnSpc>
              <a:buSzPct val="100000"/>
              <a:buChar char="•"/>
            </a:pPr>
            <a:r>
              <a:rPr lang="en-US" sz="1050" dirty="0">
                <a:solidFill>
                  <a:srgbClr val="F6D9D2"/>
                </a:solidFill>
                <a:latin typeface="Calibri" pitchFamily="34" charset="0"/>
                <a:ea typeface="Calibri" pitchFamily="34" charset="-122"/>
                <a:cs typeface="Calibri" pitchFamily="34" charset="-120"/>
              </a:rPr>
              <a:t>native categoricals, handles NaN</a:t>
            </a:r>
            <a:endParaRPr lang="en-US" sz="1050" dirty="0"/>
          </a:p>
        </p:txBody>
      </p:sp>
      <p:sp>
        <p:nvSpPr>
          <p:cNvPr id="13" name="Shape 11"/>
          <p:cNvSpPr/>
          <p:nvPr/>
        </p:nvSpPr>
        <p:spPr>
          <a:xfrm>
            <a:off x="8229600" y="1965960"/>
            <a:ext cx="3383280" cy="2743200"/>
          </a:xfrm>
          <a:prstGeom prst="roundRect">
            <a:avLst>
              <a:gd name="adj" fmla="val 2000"/>
            </a:avLst>
          </a:prstGeom>
          <a:solidFill>
            <a:srgbClr val="F6F3F2"/>
          </a:solidFill>
          <a:ln w="12700">
            <a:solidFill>
              <a:srgbClr val="E4E1DF"/>
            </a:solidFill>
            <a:prstDash val="solid"/>
          </a:ln>
        </p:spPr>
        <p:txBody>
          <a:bodyPr/>
          <a:lstStyle/>
          <a:p>
            <a:endParaRPr lang="en-DE"/>
          </a:p>
        </p:txBody>
      </p:sp>
      <p:sp>
        <p:nvSpPr>
          <p:cNvPr id="14" name="Text 12"/>
          <p:cNvSpPr txBox="1"/>
          <p:nvPr/>
        </p:nvSpPr>
        <p:spPr>
          <a:xfrm>
            <a:off x="8503920" y="2112264"/>
            <a:ext cx="283464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OUTPUT  ·  one score / transaction</a:t>
            </a:r>
            <a:endParaRPr lang="en-US" sz="1350" dirty="0"/>
          </a:p>
        </p:txBody>
      </p:sp>
      <p:sp>
        <p:nvSpPr>
          <p:cNvPr id="15" name="Text 13"/>
          <p:cNvSpPr txBox="1"/>
          <p:nvPr/>
        </p:nvSpPr>
        <p:spPr>
          <a:xfrm>
            <a:off x="8516112" y="2432304"/>
            <a:ext cx="2834640" cy="18288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100" dirty="0">
                <a:solidFill>
                  <a:srgbClr val="1A1A1A"/>
                </a:solidFill>
                <a:latin typeface="Calibri" pitchFamily="34" charset="0"/>
                <a:ea typeface="Calibri" pitchFamily="34" charset="-122"/>
                <a:cs typeface="Calibri" pitchFamily="34" charset="-120"/>
              </a:rPr>
              <a:t>a risk score from 0 to 1</a:t>
            </a:r>
            <a:endParaRPr lang="en-US" sz="1100" dirty="0"/>
          </a:p>
          <a:p>
            <a:pPr marL="342900" indent="-342900">
              <a:lnSpc>
                <a:spcPct val="110000"/>
              </a:lnSpc>
              <a:spcAft>
                <a:spcPts val="1000"/>
              </a:spcAft>
              <a:buSzPct val="100000"/>
              <a:buChar char="•"/>
            </a:pPr>
            <a:r>
              <a:rPr lang="en-US" sz="1100" dirty="0">
                <a:solidFill>
                  <a:srgbClr val="1A1A1A"/>
                </a:solidFill>
                <a:latin typeface="Calibri" pitchFamily="34" charset="0"/>
                <a:ea typeface="Calibri" pitchFamily="34" charset="-122"/>
                <a:cs typeface="Calibri" pitchFamily="34" charset="-120"/>
              </a:rPr>
              <a:t>used to rank the day's transactions</a:t>
            </a:r>
            <a:endParaRPr lang="en-US" sz="1100" dirty="0"/>
          </a:p>
          <a:p>
            <a:pPr marL="342900" indent="-342900">
              <a:lnSpc>
                <a:spcPct val="110000"/>
              </a:lnSpc>
              <a:buSzPct val="100000"/>
              <a:buChar char="•"/>
            </a:pPr>
            <a:r>
              <a:rPr lang="en-US" sz="1100" dirty="0">
                <a:solidFill>
                  <a:srgbClr val="1A1A1A"/>
                </a:solidFill>
                <a:latin typeface="Calibri" pitchFamily="34" charset="0"/>
                <a:ea typeface="Calibri" pitchFamily="34" charset="-122"/>
                <a:cs typeface="Calibri" pitchFamily="34" charset="-120"/>
              </a:rPr>
              <a:t>never a yes/no on one transaction by itself</a:t>
            </a:r>
            <a:endParaRPr lang="en-US" sz="1100" dirty="0"/>
          </a:p>
        </p:txBody>
      </p:sp>
      <p:sp>
        <p:nvSpPr>
          <p:cNvPr id="16" name="Shape 14"/>
          <p:cNvSpPr/>
          <p:nvPr/>
        </p:nvSpPr>
        <p:spPr>
          <a:xfrm>
            <a:off x="4014216" y="3154680"/>
            <a:ext cx="402336" cy="365760"/>
          </a:xfrm>
          <a:prstGeom prst="rightArrow">
            <a:avLst/>
          </a:prstGeom>
          <a:solidFill>
            <a:srgbClr val="F0523C"/>
          </a:solidFill>
          <a:ln/>
        </p:spPr>
        <p:txBody>
          <a:bodyPr/>
          <a:lstStyle/>
          <a:p>
            <a:endParaRPr lang="en-DE"/>
          </a:p>
        </p:txBody>
      </p:sp>
      <p:sp>
        <p:nvSpPr>
          <p:cNvPr id="17" name="Shape 15"/>
          <p:cNvSpPr/>
          <p:nvPr/>
        </p:nvSpPr>
        <p:spPr>
          <a:xfrm>
            <a:off x="7744968" y="3154680"/>
            <a:ext cx="402336" cy="365760"/>
          </a:xfrm>
          <a:prstGeom prst="rightArrow">
            <a:avLst/>
          </a:prstGeom>
          <a:solidFill>
            <a:srgbClr val="F0523C"/>
          </a:solidFill>
          <a:ln/>
        </p:spPr>
        <p:txBody>
          <a:bodyPr/>
          <a:lstStyle/>
          <a:p>
            <a:endParaRPr lang="en-DE"/>
          </a:p>
        </p:txBody>
      </p:sp>
      <p:sp>
        <p:nvSpPr>
          <p:cNvPr id="18" name="Text 16"/>
          <p:cNvSpPr txBox="1"/>
          <p:nvPr/>
        </p:nvSpPr>
        <p:spPr>
          <a:xfrm>
            <a:off x="548640" y="4937760"/>
            <a:ext cx="11064240" cy="420624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Why trees: tabular data, categoricals and skewed counts handled natively, fast, explainable per alert via SHAP</a:t>
            </a:r>
            <a:endParaRPr lang="en-US" sz="1600" dirty="0"/>
          </a:p>
          <a:p>
            <a:pPr marL="152400" indent="-152400">
              <a:lnSpc>
                <a:spcPct val="105000"/>
              </a:lnSpc>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Rejected: a neural net (overkill for 26 features and 7k positives, harder to govern); XGBoost (equivalent, slower on categoricals)</a:t>
            </a:r>
            <a:endParaRPr lang="en-US" sz="1600" dirty="0"/>
          </a:p>
          <a:p>
            <a:pPr marL="152400" indent="-152400">
              <a:lnSpc>
                <a:spcPct val="105000"/>
              </a:lnSpc>
              <a:spcAft>
                <a:spcPts val="600"/>
              </a:spcAft>
              <a:buSzPct val="100000"/>
              <a:buChar char="•"/>
            </a:pPr>
            <a:r>
              <a:rPr lang="en-US" sz="1600" dirty="0">
                <a:solidFill>
                  <a:srgbClr val="1A1A1A"/>
                </a:solidFill>
                <a:latin typeface="Calibri" pitchFamily="34" charset="0"/>
                <a:ea typeface="Calibri" pitchFamily="34" charset="-122"/>
                <a:cs typeface="Calibri" pitchFamily="34" charset="-120"/>
              </a:rPr>
              <a:t>Baseline: Logistic Regression scores PR-AUC 0.012. LightGBM's 0.68 is the non-linearity and feature interactions earning their keep.</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MLOPS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13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Experiment tracking and the model registry: MLflow</a:t>
            </a:r>
            <a:endParaRPr lang="en-US" sz="2700" dirty="0"/>
          </a:p>
        </p:txBody>
      </p:sp>
      <p:sp>
        <p:nvSpPr>
          <p:cNvPr id="7" name="Text 5"/>
          <p:cNvSpPr txBox="1"/>
          <p:nvPr/>
        </p:nvSpPr>
        <p:spPr>
          <a:xfrm>
            <a:off x="548640" y="1737360"/>
            <a:ext cx="11064240" cy="457200"/>
          </a:xfrm>
          <a:prstGeom prst="rect">
            <a:avLst/>
          </a:prstGeom>
          <a:noFill/>
          <a:ln/>
        </p:spPr>
        <p:txBody>
          <a:bodyPr wrap="square" lIns="0" tIns="0" rIns="0" bIns="0" rtlCol="0" anchor="ctr"/>
          <a:lstStyle/>
          <a:p>
            <a:pPr marL="0" indent="0">
              <a:buNone/>
            </a:pPr>
            <a:r>
              <a:rPr lang="en-US" sz="1200" i="1" dirty="0">
                <a:solidFill>
                  <a:srgbClr val="6E6E6E"/>
                </a:solidFill>
                <a:latin typeface="Calibri" pitchFamily="34" charset="0"/>
                <a:ea typeface="Calibri" pitchFamily="34" charset="-122"/>
                <a:cs typeface="Calibri" pitchFamily="34" charset="-120"/>
              </a:rPr>
              <a:t>The imbalance sweep is 5 tracked runs from one command. Every run captures params, metrics, the model artifact, the git commit and the environment.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6949440" cy="2084832"/>
        </p:xfrm>
        <a:graphic>
          <a:graphicData uri="http://schemas.openxmlformats.org/drawingml/2006/table">
            <a:tbl>
              <a:tblPr/>
              <a:tblGrid>
                <a:gridCol w="2926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47472">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run</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val PR-AUC</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val ROC-AUC</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trees used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347472">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logreg baseline</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0.012</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0.883</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n/a</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000" b="1" dirty="0">
                          <a:solidFill>
                            <a:srgbClr val="1A1A1A"/>
                          </a:solidFill>
                          <a:latin typeface="Calibri" pitchFamily="34" charset="0"/>
                          <a:ea typeface="Calibri" pitchFamily="34" charset="-122"/>
                          <a:cs typeface="Calibri" pitchFamily="34" charset="-120"/>
                        </a:rPr>
                        <a:t>lightgbm  spw = 1  (shipped)</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b="1" dirty="0">
                          <a:solidFill>
                            <a:srgbClr val="F0523C"/>
                          </a:solidFill>
                          <a:latin typeface="Calibri" pitchFamily="34" charset="0"/>
                          <a:ea typeface="Calibri" pitchFamily="34" charset="-122"/>
                          <a:cs typeface="Calibri" pitchFamily="34" charset="-120"/>
                        </a:rPr>
                        <a:t>0.682</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0.990</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1993</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lightgbm  spw = 5</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0.685</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0.991</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2000</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lightgbm  spw = 100</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0.585</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0.989</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2000</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4"/>
                  </a:ext>
                </a:extLst>
              </a:tr>
              <a:tr h="347472">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lightgbm  spw = 1003  (naive)</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0.008</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0.861</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00" dirty="0">
                          <a:solidFill>
                            <a:srgbClr val="1A1A1A"/>
                          </a:solidFill>
                          <a:latin typeface="Calibri" pitchFamily="34" charset="0"/>
                          <a:ea typeface="Calibri" pitchFamily="34" charset="-122"/>
                          <a:cs typeface="Calibri" pitchFamily="34" charset="-120"/>
                        </a:rPr>
                        <a:t>2  (loss collapses)</a:t>
                      </a:r>
                      <a:endParaRPr lang="en-US" sz="100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7772400" y="2240280"/>
            <a:ext cx="3840480" cy="2194560"/>
          </a:xfrm>
          <a:prstGeom prst="roundRect">
            <a:avLst>
              <a:gd name="adj" fmla="val 2500"/>
            </a:avLst>
          </a:prstGeom>
          <a:solidFill>
            <a:srgbClr val="F6F3F2"/>
          </a:solidFill>
          <a:ln w="12700">
            <a:solidFill>
              <a:srgbClr val="E4E1DF"/>
            </a:solidFill>
            <a:prstDash val="solid"/>
          </a:ln>
        </p:spPr>
        <p:txBody>
          <a:bodyPr/>
          <a:lstStyle/>
          <a:p>
            <a:endParaRPr lang="en-DE"/>
          </a:p>
        </p:txBody>
      </p:sp>
      <p:sp>
        <p:nvSpPr>
          <p:cNvPr id="10" name="Text 7"/>
          <p:cNvSpPr txBox="1"/>
          <p:nvPr/>
        </p:nvSpPr>
        <p:spPr>
          <a:xfrm>
            <a:off x="8046720" y="2386584"/>
            <a:ext cx="329184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Model registry</a:t>
            </a:r>
            <a:endParaRPr lang="en-US" sz="1350" dirty="0"/>
          </a:p>
        </p:txBody>
      </p:sp>
      <p:sp>
        <p:nvSpPr>
          <p:cNvPr id="11" name="Text 8"/>
          <p:cNvSpPr txBox="1"/>
          <p:nvPr/>
        </p:nvSpPr>
        <p:spPr>
          <a:xfrm>
            <a:off x="8046720" y="2743200"/>
            <a:ext cx="3383280" cy="1554480"/>
          </a:xfrm>
          <a:prstGeom prst="rect">
            <a:avLst/>
          </a:prstGeom>
          <a:noFill/>
          <a:ln/>
        </p:spPr>
        <p:txBody>
          <a:bodyPr wrap="square" lIns="0" tIns="0" rIns="0" bIns="0" rtlCol="0" anchor="ctr"/>
          <a:lstStyle/>
          <a:p>
            <a:pPr marL="0" indent="0">
              <a:lnSpc>
                <a:spcPct val="110000"/>
              </a:lnSpc>
              <a:spcAft>
                <a:spcPts val="600"/>
              </a:spcAft>
              <a:buNone/>
            </a:pPr>
            <a:r>
              <a:rPr lang="en-US" sz="1100" b="1" dirty="0">
                <a:solidFill>
                  <a:srgbClr val="1A1A1A"/>
                </a:solidFill>
                <a:latin typeface="Calibri" pitchFamily="34" charset="0"/>
                <a:ea typeface="Calibri" pitchFamily="34" charset="-122"/>
                <a:cs typeface="Calibri" pitchFamily="34" charset="-120"/>
              </a:rPr>
              <a:t>aml-transaction-monitoring</a:t>
            </a:r>
            <a:endParaRPr lang="en-US" sz="1100" dirty="0"/>
          </a:p>
          <a:p>
            <a:pPr marL="0" indent="0">
              <a:lnSpc>
                <a:spcPct val="110000"/>
              </a:lnSpc>
              <a:spcAft>
                <a:spcPts val="100"/>
              </a:spcAft>
              <a:buNone/>
            </a:pPr>
            <a:r>
              <a:rPr lang="en-US" sz="1100" dirty="0">
                <a:solidFill>
                  <a:srgbClr val="1A1A1A"/>
                </a:solidFill>
                <a:latin typeface="Calibri" pitchFamily="34" charset="0"/>
                <a:ea typeface="Calibri" pitchFamily="34" charset="-122"/>
                <a:cs typeface="Calibri" pitchFamily="34" charset="-120"/>
              </a:rPr>
              <a:t>v1  as  @champion</a:t>
            </a:r>
            <a:endParaRPr lang="en-US" sz="1100" dirty="0"/>
          </a:p>
          <a:p>
            <a:pPr marL="0" indent="0">
              <a:lnSpc>
                <a:spcPct val="110000"/>
              </a:lnSpc>
              <a:spcAft>
                <a:spcPts val="600"/>
              </a:spcAft>
              <a:buNone/>
            </a:pPr>
            <a:r>
              <a:rPr lang="en-US" sz="950" dirty="0">
                <a:solidFill>
                  <a:srgbClr val="6E6E6E"/>
                </a:solidFill>
                <a:latin typeface="Calibri" pitchFamily="34" charset="0"/>
                <a:ea typeface="Calibri" pitchFamily="34" charset="-122"/>
                <a:cs typeface="Calibri" pitchFamily="34" charset="-120"/>
              </a:rPr>
              <a:t>in production</a:t>
            </a:r>
            <a:endParaRPr lang="en-US" sz="1100" dirty="0"/>
          </a:p>
          <a:p>
            <a:pPr marL="0" indent="0">
              <a:lnSpc>
                <a:spcPct val="110000"/>
              </a:lnSpc>
              <a:spcAft>
                <a:spcPts val="100"/>
              </a:spcAft>
              <a:buNone/>
            </a:pPr>
            <a:r>
              <a:rPr lang="en-US" sz="1100" dirty="0">
                <a:solidFill>
                  <a:srgbClr val="1A1A1A"/>
                </a:solidFill>
                <a:latin typeface="Calibri" pitchFamily="34" charset="0"/>
                <a:ea typeface="Calibri" pitchFamily="34" charset="-122"/>
                <a:cs typeface="Calibri" pitchFamily="34" charset="-120"/>
              </a:rPr>
              <a:t>v2  as  @challenger</a:t>
            </a:r>
            <a:endParaRPr lang="en-US" sz="1100" dirty="0"/>
          </a:p>
          <a:p>
            <a:pPr marL="0" indent="0">
              <a:lnSpc>
                <a:spcPct val="110000"/>
              </a:lnSpc>
              <a:buNone/>
            </a:pPr>
            <a:r>
              <a:rPr lang="en-US" sz="950" dirty="0">
                <a:solidFill>
                  <a:srgbClr val="6E6E6E"/>
                </a:solidFill>
                <a:latin typeface="Calibri" pitchFamily="34" charset="0"/>
                <a:ea typeface="Calibri" pitchFamily="34" charset="-122"/>
                <a:cs typeface="Calibri" pitchFamily="34" charset="-120"/>
              </a:rPr>
              <a:t>from </a:t>
            </a:r>
            <a:r>
              <a:rPr lang="en-US" sz="950" dirty="0" err="1">
                <a:solidFill>
                  <a:srgbClr val="6E6E6E"/>
                </a:solidFill>
                <a:latin typeface="Calibri" pitchFamily="34" charset="0"/>
                <a:ea typeface="Calibri" pitchFamily="34" charset="-122"/>
                <a:cs typeface="Calibri" pitchFamily="34" charset="-120"/>
              </a:rPr>
              <a:t>MLOps</a:t>
            </a:r>
            <a:r>
              <a:rPr lang="en-US" sz="950" dirty="0">
                <a:solidFill>
                  <a:srgbClr val="6E6E6E"/>
                </a:solidFill>
                <a:latin typeface="Calibri" pitchFamily="34" charset="0"/>
                <a:ea typeface="Calibri" pitchFamily="34" charset="-122"/>
                <a:cs typeface="Calibri" pitchFamily="34" charset="-120"/>
              </a:rPr>
              <a:t>, not yet promoted</a:t>
            </a:r>
            <a:endParaRPr lang="en-US" sz="1100" dirty="0"/>
          </a:p>
        </p:txBody>
      </p:sp>
      <p:sp>
        <p:nvSpPr>
          <p:cNvPr id="12" name="Text 9"/>
          <p:cNvSpPr txBox="1"/>
          <p:nvPr/>
        </p:nvSpPr>
        <p:spPr>
          <a:xfrm>
            <a:off x="548640" y="4892040"/>
            <a:ext cx="11064240" cy="4206240"/>
          </a:xfrm>
          <a:prstGeom prst="rect">
            <a:avLst/>
          </a:prstGeom>
          <a:noFill/>
          <a:ln/>
        </p:spPr>
        <p:txBody>
          <a:bodyPr wrap="square" lIns="0" tIns="0" rIns="0" bIns="0" rtlCol="0" anchor="t"/>
          <a:lstStyle/>
          <a:p>
            <a:pPr marL="152400" indent="-152400">
              <a:lnSpc>
                <a:spcPct val="105000"/>
              </a:lnSpc>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ROC-AUC barely moves across the sweep (0.86 to 0.99). PR-AUC swings 80x. </a:t>
            </a:r>
          </a:p>
          <a:p>
            <a:pPr marL="152400" indent="-152400">
              <a:lnSpc>
                <a:spcPct val="105000"/>
              </a:lnSpc>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That is the evidence that ROC-AUC is the wrong metric.</a:t>
            </a:r>
            <a:endParaRPr lang="en-US" sz="1200" dirty="0"/>
          </a:p>
          <a:p>
            <a:pPr marL="152400" indent="-152400">
              <a:lnSpc>
                <a:spcPct val="105000"/>
              </a:lnSpc>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Scoring loads models:/aml-transaction-monitoring@champion, never a version number. </a:t>
            </a:r>
          </a:p>
          <a:p>
            <a:pPr marL="152400" indent="-152400">
              <a:lnSpc>
                <a:spcPct val="105000"/>
              </a:lnSpc>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Promotion and rollback are one alias move, not a redeploy.</a:t>
            </a:r>
            <a:endParaRPr lang="en-US" sz="1200" dirty="0"/>
          </a:p>
          <a:p>
            <a:pPr marL="152400" indent="-152400">
              <a:lnSpc>
                <a:spcPct val="105000"/>
              </a:lnSpc>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Training is an offline job. The notebook loads the registered model and never retrains, so experiment and analysis stay separated.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EVALUATION METRIC</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14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Choosing the metric, and the result</a:t>
            </a:r>
            <a:endParaRPr lang="en-US" sz="2700" dirty="0"/>
          </a:p>
        </p:txBody>
      </p:sp>
      <p:sp>
        <p:nvSpPr>
          <p:cNvPr id="7" name="Text 5"/>
          <p:cNvSpPr txBox="1"/>
          <p:nvPr/>
        </p:nvSpPr>
        <p:spPr>
          <a:xfrm>
            <a:off x="548640" y="2011680"/>
            <a:ext cx="4846320" cy="4206240"/>
          </a:xfrm>
          <a:prstGeom prst="rect">
            <a:avLst/>
          </a:prstGeom>
          <a:noFill/>
          <a:ln/>
        </p:spPr>
        <p:txBody>
          <a:bodyPr wrap="square" lIns="0" tIns="0" rIns="0" bIns="0" rtlCol="0" anchor="t"/>
          <a:lstStyle/>
          <a:p>
            <a:pPr marL="285750" lvl="0" indent="-285750">
              <a:buFont typeface="Arial" panose="020B0604020202020204" pitchFamily="34" charset="0"/>
              <a:buChar char="•"/>
            </a:pPr>
            <a:r>
              <a:rPr lang="en-DE" sz="1400" dirty="0"/>
              <a:t>Accuracy and F1 rejected — they need a fixed 0.5 cut; we alert on the top 1%</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ROC-AUC rejected as headline — millions of easy negatives drown it (~0.98 even when weak)</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PR-AUC is the headline: threshold-free</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It rewards precision on the positives only — what an alert list lives on</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Result: 0.68 validation, 0.54 held-out test</a:t>
            </a:r>
          </a:p>
          <a:p>
            <a:pPr marL="285750" lvl="0" indent="-285750">
              <a:buFont typeface="Arial" panose="020B0604020202020204" pitchFamily="34" charset="0"/>
              <a:buChar char="•"/>
            </a:pPr>
            <a:endParaRPr lang="en-DE" sz="1400" dirty="0"/>
          </a:p>
          <a:p>
            <a:pPr marL="285750" lvl="0" indent="-285750">
              <a:buFont typeface="Arial" panose="020B0604020202020204" pitchFamily="34" charset="0"/>
              <a:buChar char="•"/>
            </a:pPr>
            <a:r>
              <a:rPr lang="en-DE" sz="1400" dirty="0"/>
              <a:t>The two-month drop is real decay → MLOps addressess</a:t>
            </a:r>
          </a:p>
        </p:txBody>
      </p:sp>
      <p:pic>
        <p:nvPicPr>
          <p:cNvPr id="8" name="Image 0" descr="preencoded.png"/>
          <p:cNvPicPr>
            <a:picLocks noChangeAspect="1"/>
          </p:cNvPicPr>
          <p:nvPr/>
        </p:nvPicPr>
        <p:blipFill>
          <a:blip r:embed="rId3"/>
          <a:stretch>
            <a:fillRect/>
          </a:stretch>
        </p:blipFill>
        <p:spPr>
          <a:xfrm>
            <a:off x="5669280" y="1783080"/>
            <a:ext cx="6217920" cy="4343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DETECTION VS. ALERTS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15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Detecting suspicious activity versus unnecessary alerts</a:t>
            </a:r>
            <a:endParaRPr lang="en-US" sz="2700" dirty="0"/>
          </a:p>
        </p:txBody>
      </p:sp>
      <p:graphicFrame>
        <p:nvGraphicFramePr>
          <p:cNvPr id="7" name="Chart 0"/>
          <p:cNvGraphicFramePr/>
          <p:nvPr/>
        </p:nvGraphicFramePr>
        <p:xfrm>
          <a:off x="548640" y="1965960"/>
          <a:ext cx="62179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6949440" y="2011680"/>
            <a:ext cx="4663440" cy="2103120"/>
          </a:xfrm>
          <a:prstGeom prst="roundRect">
            <a:avLst>
              <a:gd name="adj" fmla="val 2609"/>
            </a:avLst>
          </a:prstGeom>
          <a:solidFill>
            <a:srgbClr val="F6F3F2"/>
          </a:solidFill>
          <a:ln w="12700">
            <a:solidFill>
              <a:srgbClr val="E4E1DF"/>
            </a:solidFill>
            <a:prstDash val="solid"/>
          </a:ln>
        </p:spPr>
        <p:txBody>
          <a:bodyPr/>
          <a:lstStyle/>
          <a:p>
            <a:endParaRPr lang="en-DE"/>
          </a:p>
        </p:txBody>
      </p:sp>
      <p:sp>
        <p:nvSpPr>
          <p:cNvPr id="9" name="Text 6"/>
          <p:cNvSpPr txBox="1"/>
          <p:nvPr/>
        </p:nvSpPr>
        <p:spPr>
          <a:xfrm>
            <a:off x="7223760" y="2157984"/>
            <a:ext cx="411480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Operating point</a:t>
            </a:r>
            <a:endParaRPr lang="en-US" sz="1350" dirty="0"/>
          </a:p>
        </p:txBody>
      </p:sp>
      <p:sp>
        <p:nvSpPr>
          <p:cNvPr id="10" name="Text 7"/>
          <p:cNvSpPr txBox="1"/>
          <p:nvPr/>
        </p:nvSpPr>
        <p:spPr>
          <a:xfrm>
            <a:off x="7223760" y="2114735"/>
            <a:ext cx="3884964" cy="2066544"/>
          </a:xfrm>
          <a:prstGeom prst="rect">
            <a:avLst/>
          </a:prstGeom>
          <a:noFill/>
          <a:ln/>
        </p:spPr>
        <p:txBody>
          <a:bodyPr wrap="square" lIns="0" tIns="0" rIns="0" bIns="0" rtlCol="0" anchor="ctr"/>
          <a:lstStyle/>
          <a:p>
            <a:pPr marL="171450" indent="-171450">
              <a:buFont typeface="Arial" panose="020B0604020202020204" pitchFamily="34" charset="0"/>
              <a:buChar char="•"/>
            </a:pPr>
            <a:r>
              <a:rPr lang="en-DE" sz="1400" dirty="0"/>
              <a:t>Threshold fixed on validation at the 1% budget</a:t>
            </a:r>
          </a:p>
          <a:p>
            <a:pPr marL="171450" indent="-171450">
              <a:buFont typeface="Arial" panose="020B0604020202020204" pitchFamily="34" charset="0"/>
              <a:buChar char="•"/>
            </a:pPr>
            <a:r>
              <a:rPr lang="en-DE" sz="1400" dirty="0"/>
              <a:t>Applied unchanged to test, no peeking</a:t>
            </a:r>
          </a:p>
          <a:p>
            <a:pPr marL="171450" indent="-171450">
              <a:buFont typeface="Arial" panose="020B0604020202020204" pitchFamily="34" charset="0"/>
              <a:buChar char="•"/>
            </a:pPr>
            <a:r>
              <a:rPr lang="en-DE" sz="1400" dirty="0"/>
              <a:t>~405 alerts/day</a:t>
            </a:r>
          </a:p>
          <a:p>
            <a:pPr marL="171450" indent="-171450">
              <a:buFont typeface="Arial" panose="020B0604020202020204" pitchFamily="34" charset="0"/>
              <a:buChar char="•"/>
            </a:pPr>
            <a:r>
              <a:rPr lang="en-DE" sz="1400" dirty="0"/>
              <a:t>Precision 6.4%, recall 77%</a:t>
            </a:r>
          </a:p>
          <a:p>
            <a:pPr marL="171450" indent="-171450">
              <a:buFont typeface="Arial" panose="020B0604020202020204" pitchFamily="34" charset="0"/>
              <a:buChar char="•"/>
            </a:pPr>
            <a:r>
              <a:rPr lang="en-DE" sz="1400" dirty="0"/>
              <a:t>1390 caught, 423 missed</a:t>
            </a:r>
          </a:p>
        </p:txBody>
      </p:sp>
      <p:sp>
        <p:nvSpPr>
          <p:cNvPr id="11" name="Text 8"/>
          <p:cNvSpPr txBox="1"/>
          <p:nvPr/>
        </p:nvSpPr>
        <p:spPr>
          <a:xfrm>
            <a:off x="6949440" y="4297680"/>
            <a:ext cx="4663440" cy="4206240"/>
          </a:xfrm>
          <a:prstGeom prst="rect">
            <a:avLst/>
          </a:prstGeom>
          <a:noFill/>
          <a:ln/>
        </p:spPr>
        <p:txBody>
          <a:bodyPr wrap="square" lIns="0" tIns="0" rIns="0" bIns="0" rtlCol="0" anchor="t"/>
          <a:lstStyle/>
          <a:p>
            <a:pPr marL="152400" indent="-152400">
              <a:lnSpc>
                <a:spcPct val="105000"/>
              </a:lnSpc>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Where you sit on this curve is a capacity and risk-appetite decision for the investigations team, not a modelling choice</a:t>
            </a:r>
            <a:endParaRPr lang="en-US" sz="1100" dirty="0"/>
          </a:p>
          <a:p>
            <a:pPr marL="152400" indent="-152400">
              <a:lnSpc>
                <a:spcPct val="105000"/>
              </a:lnSpc>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Cost framing: the regulator sets a minimum recall, capacity sets the budget, and model quality decides whether both can be met</a:t>
            </a:r>
            <a:endParaRPr lang="en-US" sz="1100" dirty="0"/>
          </a:p>
          <a:p>
            <a:pPr marL="152400" indent="-152400">
              <a:lnSpc>
                <a:spcPct val="105000"/>
              </a:lnSpc>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The realised alert rate drifted from 1.0% to 1.4% as scores rose. </a:t>
            </a:r>
          </a:p>
          <a:p>
            <a:pPr marL="152400" indent="-152400">
              <a:lnSpc>
                <a:spcPct val="105000"/>
              </a:lnSpc>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Fixed threshold, moving target.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EXPLAINABILITY</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16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Every alert carries its own reason</a:t>
            </a:r>
            <a:endParaRPr lang="en-US" sz="2700" dirty="0"/>
          </a:p>
        </p:txBody>
      </p:sp>
      <p:pic>
        <p:nvPicPr>
          <p:cNvPr id="7" name="Image 0" descr="preencoded.png"/>
          <p:cNvPicPr>
            <a:picLocks noChangeAspect="1"/>
          </p:cNvPicPr>
          <p:nvPr/>
        </p:nvPicPr>
        <p:blipFill>
          <a:blip r:embed="rId3"/>
          <a:stretch>
            <a:fillRect/>
          </a:stretch>
        </p:blipFill>
        <p:spPr>
          <a:xfrm>
            <a:off x="548640" y="1874520"/>
            <a:ext cx="6675120" cy="4206240"/>
          </a:xfrm>
          <a:prstGeom prst="rect">
            <a:avLst/>
          </a:prstGeom>
        </p:spPr>
      </p:pic>
      <p:sp>
        <p:nvSpPr>
          <p:cNvPr id="8" name="Text 5"/>
          <p:cNvSpPr txBox="1"/>
          <p:nvPr/>
        </p:nvSpPr>
        <p:spPr>
          <a:xfrm>
            <a:off x="7360920" y="1783080"/>
            <a:ext cx="4251960" cy="4206240"/>
          </a:xfrm>
          <a:prstGeom prst="rect">
            <a:avLst/>
          </a:prstGeom>
          <a:noFill/>
          <a:ln/>
        </p:spPr>
        <p:txBody>
          <a:bodyPr wrap="square" lIns="0" tIns="0" rIns="0" bIns="0" rtlCol="0" anchor="t"/>
          <a:lstStyle/>
          <a:p>
            <a:pPr marL="285750" indent="-285750">
              <a:buFont typeface="Arial" panose="020B0604020202020204" pitchFamily="34" charset="0"/>
              <a:buChar char="•"/>
            </a:pPr>
            <a:r>
              <a:rPr lang="en-DE" sz="1200" dirty="0"/>
              <a:t>SHAP splits a score into a base rate + a signed push per feature; they sum to the score</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Coral raises risk, grey lowers it</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Not optional for AML: every alert needs a reason, every SAR a documented basis</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Model-risk validation asks for the driver of one decision, not global importance</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This alert: a payment ~6.5x the sender's 7-day average, into a thin-history receiver</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Every driver points the same way — up</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Aggregated, the same method gives honest global importance: account behaviour carries the model</a:t>
            </a:r>
          </a:p>
          <a:p>
            <a:pPr marL="285750" indent="-285750">
              <a:buFont typeface="Arial" panose="020B0604020202020204" pitchFamily="34" charset="0"/>
              <a:buChar char="•"/>
            </a:pPr>
            <a:endParaRPr lang="en-DE" sz="1200" dirty="0"/>
          </a:p>
          <a:p>
            <a:pPr marL="285750" indent="-285750">
              <a:buFont typeface="Arial" panose="020B0604020202020204" pitchFamily="34" charset="0"/>
              <a:buChar char="•"/>
            </a:pPr>
            <a:r>
              <a:rPr lang="en-DE" sz="1200" dirty="0"/>
              <a:t>Tree-path SHAP is exact for GBDTs, cheap enough for every alert in the batch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ERROR ANALYSIS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17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Where recall comes from, and honest limits</a:t>
            </a:r>
            <a:endParaRPr lang="en-US" sz="2700" dirty="0"/>
          </a:p>
        </p:txBody>
      </p:sp>
      <p:pic>
        <p:nvPicPr>
          <p:cNvPr id="7" name="Image 0" descr="preencoded.png"/>
          <p:cNvPicPr>
            <a:picLocks noChangeAspect="1"/>
          </p:cNvPicPr>
          <p:nvPr/>
        </p:nvPicPr>
        <p:blipFill>
          <a:blip r:embed="rId3"/>
          <a:stretch>
            <a:fillRect/>
          </a:stretch>
        </p:blipFill>
        <p:spPr>
          <a:xfrm>
            <a:off x="548640" y="1783080"/>
            <a:ext cx="6492240" cy="4480560"/>
          </a:xfrm>
          <a:prstGeom prst="rect">
            <a:avLst/>
          </a:prstGeom>
        </p:spPr>
      </p:pic>
      <p:sp>
        <p:nvSpPr>
          <p:cNvPr id="8" name="Text 5"/>
          <p:cNvSpPr txBox="1"/>
          <p:nvPr/>
        </p:nvSpPr>
        <p:spPr>
          <a:xfrm>
            <a:off x="7315200" y="1828800"/>
            <a:ext cx="4297680" cy="1188720"/>
          </a:xfrm>
          <a:prstGeom prst="rect">
            <a:avLst/>
          </a:prstGeom>
          <a:noFill/>
          <a:ln/>
        </p:spPr>
        <p:txBody>
          <a:bodyPr wrap="square" lIns="0" tIns="0" rIns="0" bIns="0" rtlCol="0" anchor="ctr"/>
          <a:lstStyle/>
          <a:p>
            <a:pPr marL="0" indent="0">
              <a:lnSpc>
                <a:spcPct val="110000"/>
              </a:lnSpc>
              <a:buNone/>
            </a:pPr>
            <a:r>
              <a:rPr lang="en-US" sz="1250" dirty="0">
                <a:solidFill>
                  <a:srgbClr val="1A1A1A"/>
                </a:solidFill>
                <a:latin typeface="Calibri" pitchFamily="34" charset="0"/>
                <a:ea typeface="Calibri" pitchFamily="34" charset="-122"/>
                <a:cs typeface="Calibri" pitchFamily="34" charset="-120"/>
              </a:rPr>
              <a:t>Strong where behaviour is the signal (ink). Weak on graph-structure patterns (coral), because there are no graph features yet.</a:t>
            </a:r>
            <a:endParaRPr lang="en-US" sz="1250" dirty="0"/>
          </a:p>
        </p:txBody>
      </p:sp>
      <p:sp>
        <p:nvSpPr>
          <p:cNvPr id="9" name="Text 6"/>
          <p:cNvSpPr txBox="1"/>
          <p:nvPr/>
        </p:nvSpPr>
        <p:spPr>
          <a:xfrm>
            <a:off x="7315200" y="3108960"/>
            <a:ext cx="4297680" cy="4206240"/>
          </a:xfrm>
          <a:prstGeom prst="rect">
            <a:avLst/>
          </a:prstGeom>
          <a:noFill/>
          <a:ln/>
        </p:spPr>
        <p:txBody>
          <a:bodyPr wrap="square" lIns="0" tIns="0" rIns="0" bIns="0" rtlCol="0" anchor="t"/>
          <a:lstStyle/>
          <a:p>
            <a:pPr marL="152400" indent="-152400">
              <a:lnSpc>
                <a:spcPct val="105000"/>
              </a:lnSpc>
              <a:spcAft>
                <a:spcPts val="900"/>
              </a:spcAft>
              <a:buSzPct val="100000"/>
              <a:buChar char="•"/>
            </a:pPr>
            <a:r>
              <a:rPr lang="en-US" sz="1150" dirty="0">
                <a:solidFill>
                  <a:srgbClr val="1A1A1A"/>
                </a:solidFill>
                <a:latin typeface="Calibri" pitchFamily="34" charset="0"/>
                <a:ea typeface="Calibri" pitchFamily="34" charset="-122"/>
                <a:cs typeface="Calibri" pitchFamily="34" charset="-120"/>
              </a:rPr>
              <a:t>No graph features, so weak on fan-out and bipartite. Top of the backlog.</a:t>
            </a:r>
            <a:endParaRPr lang="en-US" sz="1150" dirty="0"/>
          </a:p>
          <a:p>
            <a:pPr marL="152400" indent="-152400">
              <a:lnSpc>
                <a:spcPct val="105000"/>
              </a:lnSpc>
              <a:spcAft>
                <a:spcPts val="900"/>
              </a:spcAft>
              <a:buSzPct val="100000"/>
              <a:buChar char="•"/>
            </a:pPr>
            <a:r>
              <a:rPr lang="en-US" sz="1150" dirty="0">
                <a:solidFill>
                  <a:srgbClr val="1A1A1A"/>
                </a:solidFill>
                <a:latin typeface="Calibri" pitchFamily="34" charset="0"/>
                <a:ea typeface="Calibri" pitchFamily="34" charset="-122"/>
                <a:cs typeface="Calibri" pitchFamily="34" charset="-120"/>
              </a:rPr>
              <a:t>The model decays measurably over about 2 months.</a:t>
            </a:r>
            <a:endParaRPr lang="en-US" sz="1150" dirty="0"/>
          </a:p>
          <a:p>
            <a:pPr marL="152400" indent="-152400">
              <a:lnSpc>
                <a:spcPct val="105000"/>
              </a:lnSpc>
              <a:spcAft>
                <a:spcPts val="900"/>
              </a:spcAft>
              <a:buSzPct val="100000"/>
              <a:buChar char="•"/>
            </a:pPr>
            <a:r>
              <a:rPr lang="en-US" sz="1150" dirty="0">
                <a:solidFill>
                  <a:srgbClr val="1A1A1A"/>
                </a:solidFill>
                <a:latin typeface="Calibri" pitchFamily="34" charset="0"/>
                <a:ea typeface="Calibri" pitchFamily="34" charset="-122"/>
                <a:cs typeface="Calibri" pitchFamily="34" charset="-120"/>
              </a:rPr>
              <a:t>Synthetic, instant labels. Real SAR outcomes lag by months.</a:t>
            </a:r>
            <a:endParaRPr lang="en-US" sz="1150" dirty="0"/>
          </a:p>
          <a:p>
            <a:pPr marL="152400" indent="-152400">
              <a:lnSpc>
                <a:spcPct val="105000"/>
              </a:lnSpc>
              <a:spcAft>
                <a:spcPts val="900"/>
              </a:spcAft>
              <a:buSzPct val="100000"/>
              <a:buChar char="•"/>
            </a:pPr>
            <a:r>
              <a:rPr lang="en-US" sz="1150" dirty="0">
                <a:solidFill>
                  <a:srgbClr val="1A1A1A"/>
                </a:solidFill>
                <a:latin typeface="Calibri" pitchFamily="34" charset="0"/>
                <a:ea typeface="Calibri" pitchFamily="34" charset="-122"/>
                <a:cs typeface="Calibri" pitchFamily="34" charset="-120"/>
              </a:rPr>
              <a:t>A single global threshold. A per-corridor threshold would likely lift recall.</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ML LIFECYCLE AND MLOPS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18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Operating the model: the lifecycle loop</a:t>
            </a:r>
            <a:endParaRPr lang="en-US" sz="2700" dirty="0"/>
          </a:p>
        </p:txBody>
      </p:sp>
      <p:sp>
        <p:nvSpPr>
          <p:cNvPr id="7" name="Shape 5"/>
          <p:cNvSpPr/>
          <p:nvPr/>
        </p:nvSpPr>
        <p:spPr>
          <a:xfrm>
            <a:off x="548640" y="1965960"/>
            <a:ext cx="985520" cy="822960"/>
          </a:xfrm>
          <a:prstGeom prst="roundRect">
            <a:avLst>
              <a:gd name="adj" fmla="val 4444"/>
            </a:avLst>
          </a:prstGeom>
          <a:solidFill>
            <a:srgbClr val="8A8078"/>
          </a:solidFill>
          <a:ln/>
        </p:spPr>
        <p:txBody>
          <a:bodyPr/>
          <a:lstStyle/>
          <a:p>
            <a:endParaRPr lang="en-DE"/>
          </a:p>
        </p:txBody>
      </p:sp>
      <p:sp>
        <p:nvSpPr>
          <p:cNvPr id="8" name="Text 6"/>
          <p:cNvSpPr txBox="1"/>
          <p:nvPr/>
        </p:nvSpPr>
        <p:spPr>
          <a:xfrm>
            <a:off x="548640" y="1965960"/>
            <a:ext cx="985520" cy="82296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daily</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batch</a:t>
            </a:r>
            <a:endParaRPr lang="en-US" sz="850" dirty="0"/>
          </a:p>
        </p:txBody>
      </p:sp>
      <p:sp>
        <p:nvSpPr>
          <p:cNvPr id="9" name="Shape 7"/>
          <p:cNvSpPr/>
          <p:nvPr/>
        </p:nvSpPr>
        <p:spPr>
          <a:xfrm>
            <a:off x="1570736" y="2203704"/>
            <a:ext cx="201168" cy="347472"/>
          </a:xfrm>
          <a:prstGeom prst="rightArrow">
            <a:avLst/>
          </a:prstGeom>
          <a:solidFill>
            <a:srgbClr val="F0523C"/>
          </a:solidFill>
          <a:ln/>
        </p:spPr>
        <p:txBody>
          <a:bodyPr/>
          <a:lstStyle/>
          <a:p>
            <a:endParaRPr lang="en-DE"/>
          </a:p>
        </p:txBody>
      </p:sp>
      <p:sp>
        <p:nvSpPr>
          <p:cNvPr id="10" name="Shape 8"/>
          <p:cNvSpPr/>
          <p:nvPr/>
        </p:nvSpPr>
        <p:spPr>
          <a:xfrm>
            <a:off x="1808480" y="1965960"/>
            <a:ext cx="985520" cy="822960"/>
          </a:xfrm>
          <a:prstGeom prst="roundRect">
            <a:avLst>
              <a:gd name="adj" fmla="val 4444"/>
            </a:avLst>
          </a:prstGeom>
          <a:solidFill>
            <a:srgbClr val="1A1A1A"/>
          </a:solidFill>
          <a:ln/>
        </p:spPr>
        <p:txBody>
          <a:bodyPr/>
          <a:lstStyle/>
          <a:p>
            <a:endParaRPr lang="en-DE"/>
          </a:p>
        </p:txBody>
      </p:sp>
      <p:sp>
        <p:nvSpPr>
          <p:cNvPr id="11" name="Text 9"/>
          <p:cNvSpPr txBox="1"/>
          <p:nvPr/>
        </p:nvSpPr>
        <p:spPr>
          <a:xfrm>
            <a:off x="1808480" y="1965960"/>
            <a:ext cx="985520" cy="82296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validate</a:t>
            </a:r>
            <a:endParaRPr lang="en-US" sz="850" dirty="0"/>
          </a:p>
        </p:txBody>
      </p:sp>
      <p:sp>
        <p:nvSpPr>
          <p:cNvPr id="12" name="Shape 10"/>
          <p:cNvSpPr/>
          <p:nvPr/>
        </p:nvSpPr>
        <p:spPr>
          <a:xfrm>
            <a:off x="2830576" y="2203704"/>
            <a:ext cx="201168" cy="347472"/>
          </a:xfrm>
          <a:prstGeom prst="rightArrow">
            <a:avLst/>
          </a:prstGeom>
          <a:solidFill>
            <a:srgbClr val="F0523C"/>
          </a:solidFill>
          <a:ln/>
        </p:spPr>
        <p:txBody>
          <a:bodyPr/>
          <a:lstStyle/>
          <a:p>
            <a:endParaRPr lang="en-DE"/>
          </a:p>
        </p:txBody>
      </p:sp>
      <p:sp>
        <p:nvSpPr>
          <p:cNvPr id="13" name="Shape 11"/>
          <p:cNvSpPr/>
          <p:nvPr/>
        </p:nvSpPr>
        <p:spPr>
          <a:xfrm>
            <a:off x="3068320" y="1965960"/>
            <a:ext cx="985520" cy="822960"/>
          </a:xfrm>
          <a:prstGeom prst="roundRect">
            <a:avLst>
              <a:gd name="adj" fmla="val 4444"/>
            </a:avLst>
          </a:prstGeom>
          <a:solidFill>
            <a:srgbClr val="1A1A1A"/>
          </a:solidFill>
          <a:ln/>
        </p:spPr>
        <p:txBody>
          <a:bodyPr/>
          <a:lstStyle/>
          <a:p>
            <a:endParaRPr lang="en-DE"/>
          </a:p>
        </p:txBody>
      </p:sp>
      <p:sp>
        <p:nvSpPr>
          <p:cNvPr id="14" name="Text 12"/>
          <p:cNvSpPr txBox="1"/>
          <p:nvPr/>
        </p:nvSpPr>
        <p:spPr>
          <a:xfrm>
            <a:off x="3068320" y="1965960"/>
            <a:ext cx="985520" cy="82296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features</a:t>
            </a:r>
            <a:endParaRPr lang="en-US" sz="850" dirty="0"/>
          </a:p>
        </p:txBody>
      </p:sp>
      <p:sp>
        <p:nvSpPr>
          <p:cNvPr id="15" name="Shape 13"/>
          <p:cNvSpPr/>
          <p:nvPr/>
        </p:nvSpPr>
        <p:spPr>
          <a:xfrm>
            <a:off x="4090416" y="2203704"/>
            <a:ext cx="201168" cy="347472"/>
          </a:xfrm>
          <a:prstGeom prst="rightArrow">
            <a:avLst/>
          </a:prstGeom>
          <a:solidFill>
            <a:srgbClr val="F0523C"/>
          </a:solidFill>
          <a:ln/>
        </p:spPr>
        <p:txBody>
          <a:bodyPr/>
          <a:lstStyle/>
          <a:p>
            <a:endParaRPr lang="en-DE"/>
          </a:p>
        </p:txBody>
      </p:sp>
      <p:sp>
        <p:nvSpPr>
          <p:cNvPr id="16" name="Shape 14"/>
          <p:cNvSpPr/>
          <p:nvPr/>
        </p:nvSpPr>
        <p:spPr>
          <a:xfrm>
            <a:off x="4328160" y="1965960"/>
            <a:ext cx="985520" cy="822960"/>
          </a:xfrm>
          <a:prstGeom prst="roundRect">
            <a:avLst>
              <a:gd name="adj" fmla="val 4444"/>
            </a:avLst>
          </a:prstGeom>
          <a:solidFill>
            <a:srgbClr val="1A1A1A"/>
          </a:solidFill>
          <a:ln/>
        </p:spPr>
        <p:txBody>
          <a:bodyPr/>
          <a:lstStyle/>
          <a:p>
            <a:endParaRPr lang="en-DE"/>
          </a:p>
        </p:txBody>
      </p:sp>
      <p:sp>
        <p:nvSpPr>
          <p:cNvPr id="17" name="Text 15"/>
          <p:cNvSpPr txBox="1"/>
          <p:nvPr/>
        </p:nvSpPr>
        <p:spPr>
          <a:xfrm>
            <a:off x="4328160" y="1965960"/>
            <a:ext cx="985520" cy="82296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score</a:t>
            </a:r>
            <a:endParaRPr lang="en-US" sz="850" dirty="0"/>
          </a:p>
        </p:txBody>
      </p:sp>
      <p:sp>
        <p:nvSpPr>
          <p:cNvPr id="18" name="Shape 16"/>
          <p:cNvSpPr/>
          <p:nvPr/>
        </p:nvSpPr>
        <p:spPr>
          <a:xfrm>
            <a:off x="5350256" y="2203704"/>
            <a:ext cx="201168" cy="347472"/>
          </a:xfrm>
          <a:prstGeom prst="rightArrow">
            <a:avLst/>
          </a:prstGeom>
          <a:solidFill>
            <a:srgbClr val="F0523C"/>
          </a:solidFill>
          <a:ln/>
        </p:spPr>
        <p:txBody>
          <a:bodyPr/>
          <a:lstStyle/>
          <a:p>
            <a:endParaRPr lang="en-DE"/>
          </a:p>
        </p:txBody>
      </p:sp>
      <p:sp>
        <p:nvSpPr>
          <p:cNvPr id="19" name="Shape 17"/>
          <p:cNvSpPr/>
          <p:nvPr/>
        </p:nvSpPr>
        <p:spPr>
          <a:xfrm>
            <a:off x="5588000" y="1965960"/>
            <a:ext cx="985520" cy="822960"/>
          </a:xfrm>
          <a:prstGeom prst="roundRect">
            <a:avLst>
              <a:gd name="adj" fmla="val 4444"/>
            </a:avLst>
          </a:prstGeom>
          <a:solidFill>
            <a:srgbClr val="1A1A1A"/>
          </a:solidFill>
          <a:ln/>
        </p:spPr>
        <p:txBody>
          <a:bodyPr/>
          <a:lstStyle/>
          <a:p>
            <a:endParaRPr lang="en-DE"/>
          </a:p>
        </p:txBody>
      </p:sp>
      <p:sp>
        <p:nvSpPr>
          <p:cNvPr id="20" name="Text 18"/>
          <p:cNvSpPr txBox="1"/>
          <p:nvPr/>
        </p:nvSpPr>
        <p:spPr>
          <a:xfrm>
            <a:off x="5588000" y="1965960"/>
            <a:ext cx="985520" cy="822960"/>
          </a:xfrm>
          <a:prstGeom prst="rect">
            <a:avLst/>
          </a:prstGeom>
          <a:noFill/>
          <a:ln/>
        </p:spPr>
        <p:txBody>
          <a:bodyPr wrap="square" lIns="0" tIns="0" rIns="0" bIns="0"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alerts</a:t>
            </a:r>
            <a:endParaRPr lang="en-US" sz="850" dirty="0"/>
          </a:p>
        </p:txBody>
      </p:sp>
      <p:sp>
        <p:nvSpPr>
          <p:cNvPr id="21" name="Shape 19"/>
          <p:cNvSpPr/>
          <p:nvPr/>
        </p:nvSpPr>
        <p:spPr>
          <a:xfrm>
            <a:off x="6610096" y="2203704"/>
            <a:ext cx="201168" cy="347472"/>
          </a:xfrm>
          <a:prstGeom prst="rightArrow">
            <a:avLst/>
          </a:prstGeom>
          <a:solidFill>
            <a:srgbClr val="F0523C"/>
          </a:solidFill>
          <a:ln/>
        </p:spPr>
        <p:txBody>
          <a:bodyPr/>
          <a:lstStyle/>
          <a:p>
            <a:endParaRPr lang="en-DE"/>
          </a:p>
        </p:txBody>
      </p:sp>
      <p:sp>
        <p:nvSpPr>
          <p:cNvPr id="22" name="Shape 20"/>
          <p:cNvSpPr/>
          <p:nvPr/>
        </p:nvSpPr>
        <p:spPr>
          <a:xfrm>
            <a:off x="6847840" y="1965960"/>
            <a:ext cx="985520" cy="822960"/>
          </a:xfrm>
          <a:prstGeom prst="roundRect">
            <a:avLst>
              <a:gd name="adj" fmla="val 4444"/>
            </a:avLst>
          </a:prstGeom>
          <a:solidFill>
            <a:srgbClr val="F0523C"/>
          </a:solidFill>
          <a:ln/>
        </p:spPr>
        <p:txBody>
          <a:bodyPr/>
          <a:lstStyle/>
          <a:p>
            <a:endParaRPr lang="en-DE"/>
          </a:p>
        </p:txBody>
      </p:sp>
      <p:sp>
        <p:nvSpPr>
          <p:cNvPr id="23" name="Text 21"/>
          <p:cNvSpPr txBox="1"/>
          <p:nvPr/>
        </p:nvSpPr>
        <p:spPr>
          <a:xfrm>
            <a:off x="6847840" y="1965960"/>
            <a:ext cx="985520" cy="82296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MONITOR</a:t>
            </a:r>
            <a:endParaRPr lang="en-US" sz="850" dirty="0"/>
          </a:p>
        </p:txBody>
      </p:sp>
      <p:sp>
        <p:nvSpPr>
          <p:cNvPr id="24" name="Shape 22"/>
          <p:cNvSpPr/>
          <p:nvPr/>
        </p:nvSpPr>
        <p:spPr>
          <a:xfrm>
            <a:off x="7869936" y="2203704"/>
            <a:ext cx="201168" cy="347472"/>
          </a:xfrm>
          <a:prstGeom prst="rightArrow">
            <a:avLst/>
          </a:prstGeom>
          <a:solidFill>
            <a:srgbClr val="F0523C"/>
          </a:solidFill>
          <a:ln/>
        </p:spPr>
        <p:txBody>
          <a:bodyPr/>
          <a:lstStyle/>
          <a:p>
            <a:endParaRPr lang="en-DE"/>
          </a:p>
        </p:txBody>
      </p:sp>
      <p:sp>
        <p:nvSpPr>
          <p:cNvPr id="25" name="Shape 23"/>
          <p:cNvSpPr/>
          <p:nvPr/>
        </p:nvSpPr>
        <p:spPr>
          <a:xfrm>
            <a:off x="8107680" y="1965960"/>
            <a:ext cx="985520" cy="822960"/>
          </a:xfrm>
          <a:prstGeom prst="roundRect">
            <a:avLst>
              <a:gd name="adj" fmla="val 4444"/>
            </a:avLst>
          </a:prstGeom>
          <a:solidFill>
            <a:srgbClr val="FFFFFF"/>
          </a:solidFill>
          <a:ln w="12700">
            <a:solidFill>
              <a:srgbClr val="1A1A1A"/>
            </a:solidFill>
            <a:prstDash val="solid"/>
          </a:ln>
        </p:spPr>
        <p:txBody>
          <a:bodyPr/>
          <a:lstStyle/>
          <a:p>
            <a:endParaRPr lang="en-DE"/>
          </a:p>
        </p:txBody>
      </p:sp>
      <p:sp>
        <p:nvSpPr>
          <p:cNvPr id="26" name="Text 24"/>
          <p:cNvSpPr txBox="1"/>
          <p:nvPr/>
        </p:nvSpPr>
        <p:spPr>
          <a:xfrm>
            <a:off x="8107680" y="1965960"/>
            <a:ext cx="985520" cy="822960"/>
          </a:xfrm>
          <a:prstGeom prst="rect">
            <a:avLst/>
          </a:prstGeom>
          <a:noFill/>
          <a:ln/>
        </p:spPr>
        <p:txBody>
          <a:bodyPr wrap="square" lIns="0" tIns="0" rIns="0" bIns="0" rtlCol="0" anchor="ctr"/>
          <a:lstStyle/>
          <a:p>
            <a:pPr marL="0" indent="0" algn="ctr">
              <a:buNone/>
            </a:pPr>
            <a:r>
              <a:rPr lang="en-US" sz="850" dirty="0">
                <a:solidFill>
                  <a:srgbClr val="1A1A1A"/>
                </a:solidFill>
                <a:latin typeface="Calibri" pitchFamily="34" charset="0"/>
                <a:ea typeface="Calibri" pitchFamily="34" charset="-122"/>
                <a:cs typeface="Calibri" pitchFamily="34" charset="-120"/>
              </a:rPr>
              <a:t>retrain</a:t>
            </a:r>
            <a:endParaRPr lang="en-US" sz="850" dirty="0"/>
          </a:p>
          <a:p>
            <a:pPr marL="0" indent="0" algn="ctr">
              <a:buNone/>
            </a:pPr>
            <a:r>
              <a:rPr lang="en-US" sz="850" dirty="0">
                <a:solidFill>
                  <a:srgbClr val="1A1A1A"/>
                </a:solidFill>
                <a:latin typeface="Calibri" pitchFamily="34" charset="0"/>
                <a:ea typeface="Calibri" pitchFamily="34" charset="-122"/>
                <a:cs typeface="Calibri" pitchFamily="34" charset="-120"/>
              </a:rPr>
              <a:t>(rolling)</a:t>
            </a:r>
            <a:endParaRPr lang="en-US" sz="850" dirty="0"/>
          </a:p>
        </p:txBody>
      </p:sp>
      <p:sp>
        <p:nvSpPr>
          <p:cNvPr id="27" name="Shape 25"/>
          <p:cNvSpPr/>
          <p:nvPr/>
        </p:nvSpPr>
        <p:spPr>
          <a:xfrm>
            <a:off x="9129776" y="2203704"/>
            <a:ext cx="201168" cy="347472"/>
          </a:xfrm>
          <a:prstGeom prst="rightArrow">
            <a:avLst/>
          </a:prstGeom>
          <a:solidFill>
            <a:srgbClr val="F0523C"/>
          </a:solidFill>
          <a:ln/>
        </p:spPr>
        <p:txBody>
          <a:bodyPr/>
          <a:lstStyle/>
          <a:p>
            <a:endParaRPr lang="en-DE"/>
          </a:p>
        </p:txBody>
      </p:sp>
      <p:sp>
        <p:nvSpPr>
          <p:cNvPr id="28" name="Shape 26"/>
          <p:cNvSpPr/>
          <p:nvPr/>
        </p:nvSpPr>
        <p:spPr>
          <a:xfrm>
            <a:off x="9367520" y="1965960"/>
            <a:ext cx="985520" cy="822960"/>
          </a:xfrm>
          <a:prstGeom prst="roundRect">
            <a:avLst>
              <a:gd name="adj" fmla="val 4444"/>
            </a:avLst>
          </a:prstGeom>
          <a:solidFill>
            <a:srgbClr val="FFFFFF"/>
          </a:solidFill>
          <a:ln w="12700">
            <a:solidFill>
              <a:srgbClr val="1A1A1A"/>
            </a:solidFill>
            <a:prstDash val="solid"/>
          </a:ln>
        </p:spPr>
        <p:txBody>
          <a:bodyPr/>
          <a:lstStyle/>
          <a:p>
            <a:endParaRPr lang="en-DE"/>
          </a:p>
        </p:txBody>
      </p:sp>
      <p:sp>
        <p:nvSpPr>
          <p:cNvPr id="29" name="Text 27"/>
          <p:cNvSpPr txBox="1"/>
          <p:nvPr/>
        </p:nvSpPr>
        <p:spPr>
          <a:xfrm>
            <a:off x="9367520" y="1965960"/>
            <a:ext cx="985520" cy="822960"/>
          </a:xfrm>
          <a:prstGeom prst="rect">
            <a:avLst/>
          </a:prstGeom>
          <a:noFill/>
          <a:ln/>
        </p:spPr>
        <p:txBody>
          <a:bodyPr wrap="square" lIns="0" tIns="0" rIns="0" bIns="0" rtlCol="0" anchor="ctr"/>
          <a:lstStyle/>
          <a:p>
            <a:pPr marL="0" indent="0" algn="ctr">
              <a:buNone/>
            </a:pPr>
            <a:r>
              <a:rPr lang="en-US" sz="850" dirty="0">
                <a:solidFill>
                  <a:srgbClr val="1A1A1A"/>
                </a:solidFill>
                <a:latin typeface="Calibri" pitchFamily="34" charset="0"/>
                <a:ea typeface="Calibri" pitchFamily="34" charset="-122"/>
                <a:cs typeface="Calibri" pitchFamily="34" charset="-120"/>
              </a:rPr>
              <a:t>challenger</a:t>
            </a:r>
            <a:endParaRPr lang="en-US" sz="850" dirty="0"/>
          </a:p>
          <a:p>
            <a:pPr marL="0" indent="0" algn="ctr">
              <a:buNone/>
            </a:pPr>
            <a:r>
              <a:rPr lang="en-US" sz="850" dirty="0">
                <a:solidFill>
                  <a:srgbClr val="1A1A1A"/>
                </a:solidFill>
                <a:latin typeface="Calibri" pitchFamily="34" charset="0"/>
                <a:ea typeface="Calibri" pitchFamily="34" charset="-122"/>
                <a:cs typeface="Calibri" pitchFamily="34" charset="-120"/>
              </a:rPr>
              <a:t>+ shadow</a:t>
            </a:r>
            <a:endParaRPr lang="en-US" sz="850" dirty="0"/>
          </a:p>
        </p:txBody>
      </p:sp>
      <p:sp>
        <p:nvSpPr>
          <p:cNvPr id="30" name="Shape 28"/>
          <p:cNvSpPr/>
          <p:nvPr/>
        </p:nvSpPr>
        <p:spPr>
          <a:xfrm>
            <a:off x="10389616" y="2203704"/>
            <a:ext cx="201168" cy="347472"/>
          </a:xfrm>
          <a:prstGeom prst="rightArrow">
            <a:avLst/>
          </a:prstGeom>
          <a:solidFill>
            <a:srgbClr val="F0523C"/>
          </a:solidFill>
          <a:ln/>
        </p:spPr>
        <p:txBody>
          <a:bodyPr/>
          <a:lstStyle/>
          <a:p>
            <a:endParaRPr lang="en-DE"/>
          </a:p>
        </p:txBody>
      </p:sp>
      <p:sp>
        <p:nvSpPr>
          <p:cNvPr id="31" name="Shape 29"/>
          <p:cNvSpPr/>
          <p:nvPr/>
        </p:nvSpPr>
        <p:spPr>
          <a:xfrm>
            <a:off x="10627360" y="1965960"/>
            <a:ext cx="985520" cy="822960"/>
          </a:xfrm>
          <a:prstGeom prst="roundRect">
            <a:avLst>
              <a:gd name="adj" fmla="val 4444"/>
            </a:avLst>
          </a:prstGeom>
          <a:solidFill>
            <a:srgbClr val="FFFFFF"/>
          </a:solidFill>
          <a:ln w="12700">
            <a:solidFill>
              <a:srgbClr val="1A1A1A"/>
            </a:solidFill>
            <a:prstDash val="solid"/>
          </a:ln>
        </p:spPr>
        <p:txBody>
          <a:bodyPr/>
          <a:lstStyle/>
          <a:p>
            <a:endParaRPr lang="en-DE"/>
          </a:p>
        </p:txBody>
      </p:sp>
      <p:sp>
        <p:nvSpPr>
          <p:cNvPr id="32" name="Text 30"/>
          <p:cNvSpPr txBox="1"/>
          <p:nvPr/>
        </p:nvSpPr>
        <p:spPr>
          <a:xfrm>
            <a:off x="10627360" y="1965960"/>
            <a:ext cx="985520" cy="822960"/>
          </a:xfrm>
          <a:prstGeom prst="rect">
            <a:avLst/>
          </a:prstGeom>
          <a:noFill/>
          <a:ln/>
        </p:spPr>
        <p:txBody>
          <a:bodyPr wrap="square" lIns="0" tIns="0" rIns="0" bIns="0" rtlCol="0" anchor="ctr"/>
          <a:lstStyle/>
          <a:p>
            <a:pPr marL="0" indent="0" algn="ctr">
              <a:buNone/>
            </a:pPr>
            <a:r>
              <a:rPr lang="en-US" sz="850" dirty="0">
                <a:solidFill>
                  <a:srgbClr val="1A1A1A"/>
                </a:solidFill>
                <a:latin typeface="Calibri" pitchFamily="34" charset="0"/>
                <a:ea typeface="Calibri" pitchFamily="34" charset="-122"/>
                <a:cs typeface="Calibri" pitchFamily="34" charset="-120"/>
              </a:rPr>
              <a:t>approve +</a:t>
            </a:r>
            <a:endParaRPr lang="en-US" sz="850" dirty="0"/>
          </a:p>
          <a:p>
            <a:pPr marL="0" indent="0" algn="ctr">
              <a:buNone/>
            </a:pPr>
            <a:r>
              <a:rPr lang="en-US" sz="850" dirty="0">
                <a:solidFill>
                  <a:srgbClr val="1A1A1A"/>
                </a:solidFill>
                <a:latin typeface="Calibri" pitchFamily="34" charset="0"/>
                <a:ea typeface="Calibri" pitchFamily="34" charset="-122"/>
                <a:cs typeface="Calibri" pitchFamily="34" charset="-120"/>
              </a:rPr>
              <a:t>promote</a:t>
            </a:r>
            <a:endParaRPr lang="en-US" sz="850" dirty="0"/>
          </a:p>
        </p:txBody>
      </p:sp>
      <p:sp>
        <p:nvSpPr>
          <p:cNvPr id="33" name="Text 31"/>
          <p:cNvSpPr txBox="1"/>
          <p:nvPr/>
        </p:nvSpPr>
        <p:spPr>
          <a:xfrm>
            <a:off x="548640" y="2971800"/>
            <a:ext cx="11064240" cy="320040"/>
          </a:xfrm>
          <a:prstGeom prst="rect">
            <a:avLst/>
          </a:prstGeom>
          <a:noFill/>
          <a:ln/>
        </p:spPr>
        <p:txBody>
          <a:bodyPr wrap="square" lIns="0" tIns="0" rIns="0" bIns="0" rtlCol="0" anchor="ctr"/>
          <a:lstStyle/>
          <a:p>
            <a:pPr marL="0" indent="0">
              <a:buNone/>
            </a:pPr>
            <a:r>
              <a:rPr lang="en-US" sz="1050" i="1" dirty="0">
                <a:solidFill>
                  <a:srgbClr val="6E6E6E"/>
                </a:solidFill>
                <a:latin typeface="Calibri" pitchFamily="34" charset="0"/>
                <a:ea typeface="Calibri" pitchFamily="34" charset="-122"/>
                <a:cs typeface="Calibri" pitchFamily="34" charset="-120"/>
              </a:rPr>
              <a:t>Dark = the daily pipeline.   Coral = monitoring, the focus of the next slide.   Outlined = the governed retrain-and-promote loop.</a:t>
            </a:r>
            <a:endParaRPr lang="en-US" sz="1050" dirty="0"/>
          </a:p>
        </p:txBody>
      </p:sp>
      <p:sp>
        <p:nvSpPr>
          <p:cNvPr id="34" name="Text 32"/>
          <p:cNvSpPr txBox="1"/>
          <p:nvPr/>
        </p:nvSpPr>
        <p:spPr>
          <a:xfrm>
            <a:off x="548640" y="3429000"/>
            <a:ext cx="11064240" cy="640080"/>
          </a:xfrm>
          <a:prstGeom prst="rect">
            <a:avLst/>
          </a:prstGeom>
          <a:noFill/>
          <a:ln/>
        </p:spPr>
        <p:txBody>
          <a:bodyPr wrap="square" lIns="0" tIns="0" rIns="0" bIns="0" rtlCol="0" anchor="ctr"/>
          <a:lstStyle/>
          <a:p>
            <a:r>
              <a:rPr lang="en-DE" sz="1200" dirty="0"/>
              <a:t>The model gets worse over two months, so someone has to keep it healthy. The loop also feeds itself: each alert an investigator acts on becomes a training label for the next version.</a:t>
            </a:r>
          </a:p>
        </p:txBody>
      </p:sp>
      <p:sp>
        <p:nvSpPr>
          <p:cNvPr id="35" name="Shape 33"/>
          <p:cNvSpPr/>
          <p:nvPr/>
        </p:nvSpPr>
        <p:spPr>
          <a:xfrm>
            <a:off x="548640" y="4343400"/>
            <a:ext cx="5486400" cy="1600200"/>
          </a:xfrm>
          <a:prstGeom prst="roundRect">
            <a:avLst>
              <a:gd name="adj" fmla="val 3429"/>
            </a:avLst>
          </a:prstGeom>
          <a:solidFill>
            <a:srgbClr val="F6F3F2"/>
          </a:solidFill>
          <a:ln w="12700">
            <a:solidFill>
              <a:srgbClr val="E4E1DF"/>
            </a:solidFill>
            <a:prstDash val="solid"/>
          </a:ln>
        </p:spPr>
        <p:txBody>
          <a:bodyPr/>
          <a:lstStyle/>
          <a:p>
            <a:endParaRPr lang="en-DE"/>
          </a:p>
        </p:txBody>
      </p:sp>
      <p:sp>
        <p:nvSpPr>
          <p:cNvPr id="36" name="Text 34"/>
          <p:cNvSpPr txBox="1"/>
          <p:nvPr/>
        </p:nvSpPr>
        <p:spPr>
          <a:xfrm>
            <a:off x="822960" y="4489704"/>
            <a:ext cx="493776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Demonstrated  ·  built, run on Jul + Aug</a:t>
            </a:r>
            <a:endParaRPr lang="en-US" sz="1350" dirty="0"/>
          </a:p>
        </p:txBody>
      </p:sp>
      <p:sp>
        <p:nvSpPr>
          <p:cNvPr id="37" name="Text 35"/>
          <p:cNvSpPr txBox="1"/>
          <p:nvPr/>
        </p:nvSpPr>
        <p:spPr>
          <a:xfrm>
            <a:off x="822960" y="4828032"/>
            <a:ext cx="4937760" cy="1005840"/>
          </a:xfrm>
          <a:prstGeom prst="rect">
            <a:avLst/>
          </a:prstGeom>
          <a:noFill/>
          <a:ln/>
        </p:spPr>
        <p:txBody>
          <a:bodyPr wrap="square" lIns="0" tIns="0" rIns="0" bIns="0" rtlCol="0" anchor="ctr"/>
          <a:lstStyle/>
          <a:p>
            <a:pPr marL="0" indent="0">
              <a:lnSpc>
                <a:spcPct val="105000"/>
              </a:lnSpc>
              <a:buNone/>
            </a:pPr>
            <a:r>
              <a:rPr lang="en-US" sz="1150" dirty="0">
                <a:solidFill>
                  <a:srgbClr val="1A1A1A"/>
                </a:solidFill>
                <a:latin typeface="Calibri" pitchFamily="34" charset="0"/>
                <a:ea typeface="Calibri" pitchFamily="34" charset="-122"/>
                <a:cs typeface="Calibri" pitchFamily="34" charset="-120"/>
              </a:rPr>
              <a:t>monitoring on every batch, a codified retraining trigger, and a rolling-window retrain with a challenger and gated promotion</a:t>
            </a:r>
            <a:endParaRPr lang="en-US" sz="1150" dirty="0"/>
          </a:p>
        </p:txBody>
      </p:sp>
      <p:sp>
        <p:nvSpPr>
          <p:cNvPr id="38" name="Shape 36"/>
          <p:cNvSpPr/>
          <p:nvPr/>
        </p:nvSpPr>
        <p:spPr>
          <a:xfrm>
            <a:off x="6309360" y="4343400"/>
            <a:ext cx="5303520" cy="1600200"/>
          </a:xfrm>
          <a:prstGeom prst="roundRect">
            <a:avLst>
              <a:gd name="adj" fmla="val 3429"/>
            </a:avLst>
          </a:prstGeom>
          <a:solidFill>
            <a:srgbClr val="FFFFFF"/>
          </a:solidFill>
          <a:ln w="12700">
            <a:solidFill>
              <a:srgbClr val="E4E1DF"/>
            </a:solidFill>
            <a:prstDash val="solid"/>
          </a:ln>
        </p:spPr>
        <p:txBody>
          <a:bodyPr/>
          <a:lstStyle/>
          <a:p>
            <a:endParaRPr lang="en-DE"/>
          </a:p>
        </p:txBody>
      </p:sp>
      <p:sp>
        <p:nvSpPr>
          <p:cNvPr id="39" name="Text 37"/>
          <p:cNvSpPr txBox="1"/>
          <p:nvPr/>
        </p:nvSpPr>
        <p:spPr>
          <a:xfrm>
            <a:off x="6583680" y="4489704"/>
            <a:ext cx="4754880" cy="320040"/>
          </a:xfrm>
          <a:prstGeom prst="rect">
            <a:avLst/>
          </a:prstGeom>
          <a:noFill/>
          <a:ln/>
        </p:spPr>
        <p:txBody>
          <a:bodyPr wrap="square" lIns="0" tIns="0" rIns="0" bIns="0" rtlCol="0" anchor="ctr"/>
          <a:lstStyle/>
          <a:p>
            <a:pPr marL="0" indent="0">
              <a:buNone/>
            </a:pPr>
            <a:r>
              <a:rPr lang="en-US" sz="1350" b="1" dirty="0">
                <a:solidFill>
                  <a:srgbClr val="6E6E6E"/>
                </a:solidFill>
                <a:latin typeface="Calibri" pitchFamily="34" charset="0"/>
                <a:ea typeface="Calibri" pitchFamily="34" charset="-122"/>
                <a:cs typeface="Calibri" pitchFamily="34" charset="-120"/>
              </a:rPr>
              <a:t>Conceptual</a:t>
            </a:r>
            <a:endParaRPr lang="en-US" sz="1350" dirty="0"/>
          </a:p>
        </p:txBody>
      </p:sp>
      <p:sp>
        <p:nvSpPr>
          <p:cNvPr id="40" name="Text 38"/>
          <p:cNvSpPr txBox="1"/>
          <p:nvPr/>
        </p:nvSpPr>
        <p:spPr>
          <a:xfrm>
            <a:off x="6583680" y="4828032"/>
            <a:ext cx="4572000" cy="100584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Calibri" pitchFamily="34" charset="0"/>
                <a:ea typeface="Calibri" pitchFamily="34" charset="-122"/>
                <a:cs typeface="Calibri" pitchFamily="34" charset="-120"/>
              </a:rPr>
              <a:t>registry mechanics, shadow deployment, delayed and biased labels with reservoir sampling, feature-store parity, governance and audit, incident response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ML LIFECYCLE AND MLOPS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19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Monitoring every batch, and what it caught</a:t>
            </a:r>
            <a:endParaRPr lang="en-US" sz="2700" dirty="0"/>
          </a:p>
        </p:txBody>
      </p:sp>
      <p:pic>
        <p:nvPicPr>
          <p:cNvPr id="7" name="Image 0" descr="preencoded.png"/>
          <p:cNvPicPr>
            <a:picLocks noChangeAspect="1"/>
          </p:cNvPicPr>
          <p:nvPr/>
        </p:nvPicPr>
        <p:blipFill>
          <a:blip r:embed="rId3"/>
          <a:stretch>
            <a:fillRect/>
          </a:stretch>
        </p:blipFill>
        <p:spPr>
          <a:xfrm>
            <a:off x="548640" y="1783080"/>
            <a:ext cx="7132320" cy="4005072"/>
          </a:xfrm>
          <a:prstGeom prst="rect">
            <a:avLst/>
          </a:prstGeom>
        </p:spPr>
      </p:pic>
      <p:sp>
        <p:nvSpPr>
          <p:cNvPr id="8" name="Text 5"/>
          <p:cNvSpPr txBox="1"/>
          <p:nvPr/>
        </p:nvSpPr>
        <p:spPr>
          <a:xfrm>
            <a:off x="7818120" y="1783080"/>
            <a:ext cx="3794760" cy="4206240"/>
          </a:xfrm>
          <a:prstGeom prst="rect">
            <a:avLst/>
          </a:prstGeom>
          <a:noFill/>
          <a:ln/>
        </p:spPr>
        <p:txBody>
          <a:bodyPr wrap="square" lIns="0" tIns="0" rIns="0" bIns="0" rtlCol="0" anchor="t"/>
          <a:lstStyle/>
          <a:p>
            <a:pPr marL="171450" lvl="0" indent="-171450">
              <a:buFont typeface="Arial" panose="020B0604020202020204" pitchFamily="34" charset="0"/>
              <a:buChar char="•"/>
            </a:pPr>
            <a:r>
              <a:rPr lang="en-DE" sz="1200" dirty="0"/>
              <a:t>Four layers, cheapest first: data quality → input drift (PSI) → prediction drift → delayed performance</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Real prediction drift: alert rate crossed the 1.5% band from 1 August</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Delayed performance confirms it: precision 7.4% → 5.5%, recall 80% → 72%</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Final partial batch (8k vs 30k rows) caught by the data-quality gate, metrics suppressed</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Input-drift alarm also caught a feature bug: two prior-txn counters drift with calendar time alone (PSI 1.4)</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Tagged as known drift, excluded from the alarm, backlogged</a:t>
            </a:r>
          </a:p>
          <a:p>
            <a:pPr marL="171450" lvl="0" indent="-171450">
              <a:buFont typeface="Arial" panose="020B0604020202020204" pitchFamily="34" charset="0"/>
              <a:buChar char="•"/>
            </a:pPr>
            <a:endParaRPr lang="en-DE" sz="1200" dirty="0"/>
          </a:p>
          <a:p>
            <a:pPr marL="171450" lvl="0" indent="-171450">
              <a:buFont typeface="Arial" panose="020B0604020202020204" pitchFamily="34" charset="0"/>
              <a:buChar char="•"/>
            </a:pPr>
            <a:r>
              <a:rPr lang="en-DE" sz="1200" dirty="0"/>
              <a:t>Monitoring doing its job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ML LIFECYCLE AND MLOPS</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20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Trigger, retrain, challenger, gated promotion</a:t>
            </a:r>
            <a:endParaRPr lang="en-US" sz="2700" dirty="0"/>
          </a:p>
        </p:txBody>
      </p:sp>
      <p:sp>
        <p:nvSpPr>
          <p:cNvPr id="7" name="Text 5"/>
          <p:cNvSpPr txBox="1"/>
          <p:nvPr/>
        </p:nvSpPr>
        <p:spPr>
          <a:xfrm>
            <a:off x="548640" y="1965960"/>
            <a:ext cx="6400800" cy="4206240"/>
          </a:xfrm>
          <a:prstGeom prst="rect">
            <a:avLst/>
          </a:prstGeom>
          <a:noFill/>
          <a:ln/>
        </p:spPr>
        <p:txBody>
          <a:bodyPr wrap="square" lIns="0" tIns="0" rIns="0" bIns="0" rtlCol="0" anchor="t"/>
          <a:lstStyle/>
          <a:p>
            <a:pPr marL="152400" indent="-152400">
              <a:lnSpc>
                <a:spcPct val="105000"/>
              </a:lnSpc>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The trigger fired on 3 August. Reasons: the scheduled monthly floor, and alert-rate drift for 3 consecutive days.</a:t>
            </a:r>
            <a:endParaRPr lang="en-US" sz="1300" dirty="0"/>
          </a:p>
          <a:p>
            <a:pPr marL="152400" indent="-152400">
              <a:lnSpc>
                <a:spcPct val="105000"/>
              </a:lnSpc>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Retrained on a rolling 8-month window (December 2022 to July 2023), to track current behaviour rather than all history</a:t>
            </a:r>
            <a:endParaRPr lang="en-US" sz="1300" dirty="0"/>
          </a:p>
          <a:p>
            <a:pPr marL="152400" indent="-152400">
              <a:lnSpc>
                <a:spcPct val="105000"/>
              </a:lnSpc>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The new model is a challenger, judged on the most recent labelled slice (August), and never promoted automatically</a:t>
            </a:r>
            <a:endParaRPr lang="en-US" sz="1300" dirty="0"/>
          </a:p>
        </p:txBody>
      </p:sp>
      <p:pic>
        <p:nvPicPr>
          <p:cNvPr id="8" name="Image 0" descr="preencoded.png"/>
          <p:cNvPicPr>
            <a:picLocks noChangeAspect="1"/>
          </p:cNvPicPr>
          <p:nvPr/>
        </p:nvPicPr>
        <p:blipFill>
          <a:blip r:embed="rId3"/>
          <a:stretch>
            <a:fillRect/>
          </a:stretch>
        </p:blipFill>
        <p:spPr>
          <a:xfrm>
            <a:off x="7360920" y="1965960"/>
            <a:ext cx="4114800" cy="2935224"/>
          </a:xfrm>
          <a:prstGeom prst="rect">
            <a:avLst/>
          </a:prstGeom>
        </p:spPr>
      </p:pic>
      <p:sp>
        <p:nvSpPr>
          <p:cNvPr id="9" name="Shape 6"/>
          <p:cNvSpPr/>
          <p:nvPr/>
        </p:nvSpPr>
        <p:spPr>
          <a:xfrm>
            <a:off x="548641" y="4983480"/>
            <a:ext cx="9779138" cy="1371600"/>
          </a:xfrm>
          <a:prstGeom prst="roundRect">
            <a:avLst>
              <a:gd name="adj" fmla="val 3429"/>
            </a:avLst>
          </a:prstGeom>
          <a:solidFill>
            <a:srgbClr val="F6F3F2"/>
          </a:solidFill>
          <a:ln w="12700">
            <a:solidFill>
              <a:srgbClr val="E4E1DF"/>
            </a:solidFill>
            <a:prstDash val="solid"/>
          </a:ln>
        </p:spPr>
        <p:txBody>
          <a:bodyPr/>
          <a:lstStyle/>
          <a:p>
            <a:endParaRPr lang="en-DE"/>
          </a:p>
        </p:txBody>
      </p:sp>
      <p:sp>
        <p:nvSpPr>
          <p:cNvPr id="10" name="Text 7"/>
          <p:cNvSpPr txBox="1"/>
          <p:nvPr/>
        </p:nvSpPr>
        <p:spPr>
          <a:xfrm>
            <a:off x="822960" y="5129784"/>
            <a:ext cx="10515600" cy="32004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Promotion is a registry operation, not a deploy</a:t>
            </a:r>
            <a:endParaRPr lang="en-US" sz="1350" dirty="0"/>
          </a:p>
        </p:txBody>
      </p:sp>
      <p:sp>
        <p:nvSpPr>
          <p:cNvPr id="11" name="Text 8"/>
          <p:cNvSpPr txBox="1"/>
          <p:nvPr/>
        </p:nvSpPr>
        <p:spPr>
          <a:xfrm>
            <a:off x="822960" y="5321808"/>
            <a:ext cx="9779137" cy="850392"/>
          </a:xfrm>
          <a:prstGeom prst="rect">
            <a:avLst/>
          </a:prstGeom>
          <a:noFill/>
          <a:ln/>
        </p:spPr>
        <p:txBody>
          <a:bodyPr wrap="square" lIns="0" tIns="0" rIns="0" bIns="0" rtlCol="0" anchor="ctr"/>
          <a:lstStyle/>
          <a:p>
            <a:pPr marL="0" indent="0">
              <a:lnSpc>
                <a:spcPct val="110000"/>
              </a:lnSpc>
              <a:buNone/>
            </a:pPr>
            <a:r>
              <a:rPr lang="en-US" sz="1150" dirty="0">
                <a:solidFill>
                  <a:srgbClr val="1A1A1A"/>
                </a:solidFill>
                <a:latin typeface="Calibri" pitchFamily="34" charset="0"/>
                <a:ea typeface="Calibri" pitchFamily="34" charset="-122"/>
                <a:cs typeface="Calibri" pitchFamily="34" charset="-120"/>
              </a:rPr>
              <a:t>The challenger beats the champion, so it is registered and the @challenger alias is set. It then awaits model-owner and compliance sign-off before it takes @champion. Scoring only ever asks for @champion, so promotion and rollback are one alias move, and the previous version stays loadable.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PRODUCTION ARCHITECTURE</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21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A daily batch pipeline on AWS</a:t>
            </a:r>
            <a:endParaRPr lang="en-US" sz="2700" dirty="0"/>
          </a:p>
        </p:txBody>
      </p:sp>
      <p:sp>
        <p:nvSpPr>
          <p:cNvPr id="7" name="Shape 5"/>
          <p:cNvSpPr/>
          <p:nvPr/>
        </p:nvSpPr>
        <p:spPr>
          <a:xfrm>
            <a:off x="548640" y="2194560"/>
            <a:ext cx="1386840" cy="868680"/>
          </a:xfrm>
          <a:prstGeom prst="roundRect">
            <a:avLst>
              <a:gd name="adj" fmla="val 4211"/>
            </a:avLst>
          </a:prstGeom>
          <a:solidFill>
            <a:srgbClr val="8A8078"/>
          </a:solidFill>
          <a:ln/>
        </p:spPr>
        <p:txBody>
          <a:bodyPr/>
          <a:lstStyle/>
          <a:p>
            <a:endParaRPr lang="en-DE"/>
          </a:p>
        </p:txBody>
      </p:sp>
      <p:sp>
        <p:nvSpPr>
          <p:cNvPr id="8" name="Text 6"/>
          <p:cNvSpPr txBox="1"/>
          <p:nvPr/>
        </p:nvSpPr>
        <p:spPr>
          <a:xfrm>
            <a:off x="548640" y="2194560"/>
            <a:ext cx="1386840" cy="86868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S3 raw</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immutable</a:t>
            </a:r>
            <a:endParaRPr lang="en-US" sz="900" dirty="0"/>
          </a:p>
        </p:txBody>
      </p:sp>
      <p:sp>
        <p:nvSpPr>
          <p:cNvPr id="9" name="Shape 7"/>
          <p:cNvSpPr/>
          <p:nvPr/>
        </p:nvSpPr>
        <p:spPr>
          <a:xfrm>
            <a:off x="1972056" y="2455164"/>
            <a:ext cx="475488" cy="347472"/>
          </a:xfrm>
          <a:prstGeom prst="rightArrow">
            <a:avLst/>
          </a:prstGeom>
          <a:solidFill>
            <a:srgbClr val="F0523C"/>
          </a:solidFill>
          <a:ln/>
        </p:spPr>
        <p:txBody>
          <a:bodyPr/>
          <a:lstStyle/>
          <a:p>
            <a:endParaRPr lang="en-DE"/>
          </a:p>
        </p:txBody>
      </p:sp>
      <p:sp>
        <p:nvSpPr>
          <p:cNvPr id="10" name="Shape 8"/>
          <p:cNvSpPr/>
          <p:nvPr/>
        </p:nvSpPr>
        <p:spPr>
          <a:xfrm>
            <a:off x="2484120" y="2194560"/>
            <a:ext cx="1386840" cy="868680"/>
          </a:xfrm>
          <a:prstGeom prst="roundRect">
            <a:avLst>
              <a:gd name="adj" fmla="val 4211"/>
            </a:avLst>
          </a:prstGeom>
          <a:solidFill>
            <a:srgbClr val="1A1A1A"/>
          </a:solidFill>
          <a:ln/>
        </p:spPr>
        <p:txBody>
          <a:bodyPr/>
          <a:lstStyle/>
          <a:p>
            <a:endParaRPr lang="en-DE"/>
          </a:p>
        </p:txBody>
      </p:sp>
      <p:sp>
        <p:nvSpPr>
          <p:cNvPr id="11" name="Text 9"/>
          <p:cNvSpPr txBox="1"/>
          <p:nvPr/>
        </p:nvSpPr>
        <p:spPr>
          <a:xfrm>
            <a:off x="2484120" y="2194560"/>
            <a:ext cx="1386840" cy="86868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Validate</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GE / Deequ</a:t>
            </a:r>
            <a:endParaRPr lang="en-US" sz="900" dirty="0"/>
          </a:p>
        </p:txBody>
      </p:sp>
      <p:sp>
        <p:nvSpPr>
          <p:cNvPr id="12" name="Shape 10"/>
          <p:cNvSpPr/>
          <p:nvPr/>
        </p:nvSpPr>
        <p:spPr>
          <a:xfrm>
            <a:off x="3907536" y="2455164"/>
            <a:ext cx="475488" cy="347472"/>
          </a:xfrm>
          <a:prstGeom prst="rightArrow">
            <a:avLst/>
          </a:prstGeom>
          <a:solidFill>
            <a:srgbClr val="F0523C"/>
          </a:solidFill>
          <a:ln/>
        </p:spPr>
        <p:txBody>
          <a:bodyPr/>
          <a:lstStyle/>
          <a:p>
            <a:endParaRPr lang="en-DE"/>
          </a:p>
        </p:txBody>
      </p:sp>
      <p:sp>
        <p:nvSpPr>
          <p:cNvPr id="13" name="Shape 11"/>
          <p:cNvSpPr/>
          <p:nvPr/>
        </p:nvSpPr>
        <p:spPr>
          <a:xfrm>
            <a:off x="4419600" y="2194560"/>
            <a:ext cx="1386840" cy="868680"/>
          </a:xfrm>
          <a:prstGeom prst="roundRect">
            <a:avLst>
              <a:gd name="adj" fmla="val 4211"/>
            </a:avLst>
          </a:prstGeom>
          <a:solidFill>
            <a:srgbClr val="1A1A1A"/>
          </a:solidFill>
          <a:ln/>
        </p:spPr>
        <p:txBody>
          <a:bodyPr/>
          <a:lstStyle/>
          <a:p>
            <a:endParaRPr lang="en-DE"/>
          </a:p>
        </p:txBody>
      </p:sp>
      <p:sp>
        <p:nvSpPr>
          <p:cNvPr id="14" name="Text 12"/>
          <p:cNvSpPr txBox="1"/>
          <p:nvPr/>
        </p:nvSpPr>
        <p:spPr>
          <a:xfrm>
            <a:off x="4419600" y="2194560"/>
            <a:ext cx="1386840" cy="86868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Features</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Glue / EMR</a:t>
            </a:r>
            <a:endParaRPr lang="en-US" sz="900" dirty="0"/>
          </a:p>
        </p:txBody>
      </p:sp>
      <p:sp>
        <p:nvSpPr>
          <p:cNvPr id="15" name="Shape 13"/>
          <p:cNvSpPr/>
          <p:nvPr/>
        </p:nvSpPr>
        <p:spPr>
          <a:xfrm>
            <a:off x="5843016" y="2455164"/>
            <a:ext cx="475488" cy="347472"/>
          </a:xfrm>
          <a:prstGeom prst="rightArrow">
            <a:avLst/>
          </a:prstGeom>
          <a:solidFill>
            <a:srgbClr val="F0523C"/>
          </a:solidFill>
          <a:ln/>
        </p:spPr>
        <p:txBody>
          <a:bodyPr/>
          <a:lstStyle/>
          <a:p>
            <a:endParaRPr lang="en-DE"/>
          </a:p>
        </p:txBody>
      </p:sp>
      <p:sp>
        <p:nvSpPr>
          <p:cNvPr id="16" name="Shape 14"/>
          <p:cNvSpPr/>
          <p:nvPr/>
        </p:nvSpPr>
        <p:spPr>
          <a:xfrm>
            <a:off x="6355080" y="2194560"/>
            <a:ext cx="1386840" cy="868680"/>
          </a:xfrm>
          <a:prstGeom prst="roundRect">
            <a:avLst>
              <a:gd name="adj" fmla="val 4211"/>
            </a:avLst>
          </a:prstGeom>
          <a:solidFill>
            <a:srgbClr val="F0523C"/>
          </a:solidFill>
          <a:ln/>
        </p:spPr>
        <p:txBody>
          <a:bodyPr/>
          <a:lstStyle/>
          <a:p>
            <a:endParaRPr lang="en-DE"/>
          </a:p>
        </p:txBody>
      </p:sp>
      <p:sp>
        <p:nvSpPr>
          <p:cNvPr id="17" name="Text 15"/>
          <p:cNvSpPr txBox="1"/>
          <p:nvPr/>
        </p:nvSpPr>
        <p:spPr>
          <a:xfrm>
            <a:off x="6355080" y="2194560"/>
            <a:ext cx="1386840" cy="86868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Score</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SageMaker</a:t>
            </a:r>
            <a:endParaRPr lang="en-US" sz="900" dirty="0"/>
          </a:p>
        </p:txBody>
      </p:sp>
      <p:sp>
        <p:nvSpPr>
          <p:cNvPr id="18" name="Shape 16"/>
          <p:cNvSpPr/>
          <p:nvPr/>
        </p:nvSpPr>
        <p:spPr>
          <a:xfrm>
            <a:off x="7778496" y="2455164"/>
            <a:ext cx="475488" cy="347472"/>
          </a:xfrm>
          <a:prstGeom prst="rightArrow">
            <a:avLst/>
          </a:prstGeom>
          <a:solidFill>
            <a:srgbClr val="F0523C"/>
          </a:solidFill>
          <a:ln/>
        </p:spPr>
        <p:txBody>
          <a:bodyPr/>
          <a:lstStyle/>
          <a:p>
            <a:endParaRPr lang="en-DE"/>
          </a:p>
        </p:txBody>
      </p:sp>
      <p:sp>
        <p:nvSpPr>
          <p:cNvPr id="19" name="Shape 17"/>
          <p:cNvSpPr/>
          <p:nvPr/>
        </p:nvSpPr>
        <p:spPr>
          <a:xfrm>
            <a:off x="8290560" y="2194560"/>
            <a:ext cx="1386840" cy="868680"/>
          </a:xfrm>
          <a:prstGeom prst="roundRect">
            <a:avLst>
              <a:gd name="adj" fmla="val 4211"/>
            </a:avLst>
          </a:prstGeom>
          <a:solidFill>
            <a:srgbClr val="1A1A1A"/>
          </a:solidFill>
          <a:ln/>
        </p:spPr>
        <p:txBody>
          <a:bodyPr/>
          <a:lstStyle/>
          <a:p>
            <a:endParaRPr lang="en-DE"/>
          </a:p>
        </p:txBody>
      </p:sp>
      <p:sp>
        <p:nvSpPr>
          <p:cNvPr id="20" name="Text 18"/>
          <p:cNvSpPr txBox="1"/>
          <p:nvPr/>
        </p:nvSpPr>
        <p:spPr>
          <a:xfrm>
            <a:off x="8290560" y="2194560"/>
            <a:ext cx="1386840" cy="86868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Rank + alert</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DynamoDB / SQS</a:t>
            </a:r>
            <a:endParaRPr lang="en-US" sz="900" dirty="0"/>
          </a:p>
        </p:txBody>
      </p:sp>
      <p:sp>
        <p:nvSpPr>
          <p:cNvPr id="21" name="Shape 19"/>
          <p:cNvSpPr/>
          <p:nvPr/>
        </p:nvSpPr>
        <p:spPr>
          <a:xfrm>
            <a:off x="9713976" y="2455164"/>
            <a:ext cx="475488" cy="347472"/>
          </a:xfrm>
          <a:prstGeom prst="rightArrow">
            <a:avLst/>
          </a:prstGeom>
          <a:solidFill>
            <a:srgbClr val="F0523C"/>
          </a:solidFill>
          <a:ln/>
        </p:spPr>
        <p:txBody>
          <a:bodyPr/>
          <a:lstStyle/>
          <a:p>
            <a:endParaRPr lang="en-DE"/>
          </a:p>
        </p:txBody>
      </p:sp>
      <p:sp>
        <p:nvSpPr>
          <p:cNvPr id="22" name="Shape 20"/>
          <p:cNvSpPr/>
          <p:nvPr/>
        </p:nvSpPr>
        <p:spPr>
          <a:xfrm>
            <a:off x="10226040" y="2194560"/>
            <a:ext cx="1386840" cy="868680"/>
          </a:xfrm>
          <a:prstGeom prst="roundRect">
            <a:avLst>
              <a:gd name="adj" fmla="val 4211"/>
            </a:avLst>
          </a:prstGeom>
          <a:solidFill>
            <a:srgbClr val="8A8078"/>
          </a:solidFill>
          <a:ln/>
        </p:spPr>
        <p:txBody>
          <a:bodyPr/>
          <a:lstStyle/>
          <a:p>
            <a:endParaRPr lang="en-DE"/>
          </a:p>
        </p:txBody>
      </p:sp>
      <p:sp>
        <p:nvSpPr>
          <p:cNvPr id="23" name="Text 21"/>
          <p:cNvSpPr txBox="1"/>
          <p:nvPr/>
        </p:nvSpPr>
        <p:spPr>
          <a:xfrm>
            <a:off x="10226040" y="2194560"/>
            <a:ext cx="1386840" cy="868680"/>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Monitor</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Evidently</a:t>
            </a:r>
            <a:endParaRPr lang="en-US" sz="900" dirty="0"/>
          </a:p>
        </p:txBody>
      </p:sp>
      <p:sp>
        <p:nvSpPr>
          <p:cNvPr id="24" name="Text 22"/>
          <p:cNvSpPr txBox="1"/>
          <p:nvPr/>
        </p:nvSpPr>
        <p:spPr>
          <a:xfrm>
            <a:off x="548640" y="3383280"/>
            <a:ext cx="11064240" cy="365760"/>
          </a:xfrm>
          <a:prstGeom prst="rect">
            <a:avLst/>
          </a:prstGeom>
          <a:noFill/>
          <a:ln/>
        </p:spPr>
        <p:txBody>
          <a:bodyPr wrap="square" lIns="0" tIns="0" rIns="0" bIns="0" rtlCol="0" anchor="ctr"/>
          <a:lstStyle/>
          <a:p>
            <a:pPr marL="0" indent="0">
              <a:buNone/>
            </a:pPr>
            <a:r>
              <a:rPr lang="en-US" sz="1100" dirty="0">
                <a:solidFill>
                  <a:srgbClr val="6E6E6E"/>
                </a:solidFill>
                <a:latin typeface="Calibri" pitchFamily="34" charset="0"/>
                <a:ea typeface="Calibri" pitchFamily="34" charset="-122"/>
                <a:cs typeface="Calibri" pitchFamily="34" charset="-120"/>
              </a:rPr>
              <a:t>Orchestration: Step Functions daily, plus a second state machine for retrain, shadow and promote.  MLflow registry on Fargate.  Terraform.</a:t>
            </a:r>
            <a:endParaRPr lang="en-US" sz="1100" dirty="0"/>
          </a:p>
        </p:txBody>
      </p:sp>
      <p:sp>
        <p:nvSpPr>
          <p:cNvPr id="25" name="Text 23"/>
          <p:cNvSpPr txBox="1"/>
          <p:nvPr/>
        </p:nvSpPr>
        <p:spPr>
          <a:xfrm>
            <a:off x="548640" y="3977640"/>
            <a:ext cx="11064240" cy="4206240"/>
          </a:xfrm>
          <a:prstGeom prst="rect">
            <a:avLst/>
          </a:prstGeom>
          <a:noFill/>
          <a:ln/>
        </p:spPr>
        <p:txBody>
          <a:bodyPr wrap="square" lIns="0" tIns="0" rIns="0" bIns="0" rtlCol="0" anchor="t"/>
          <a:lstStyle/>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Batch, not streaming.</a:t>
            </a:r>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 The label and the workflow are both post-event, so there is no real-time decision. </a:t>
            </a:r>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Add streaming only for a specific high-risk corridor if the business needs faster interdiction.</a:t>
            </a:r>
            <a:endParaRPr lang="en-US" sz="1250" dirty="0"/>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The MLflow registry is the single control point. </a:t>
            </a:r>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Scoring loads the @champion alias, never a path. </a:t>
            </a:r>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Rollback is an alias move, then re-score.</a:t>
            </a:r>
            <a:endParaRPr lang="en-US" sz="1250" dirty="0"/>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The raw zone is immutable and date-partitioned. </a:t>
            </a:r>
          </a:p>
          <a:p>
            <a:pPr marL="152400" indent="-152400">
              <a:lnSpc>
                <a:spcPct val="105000"/>
              </a:lnSpc>
              <a:spcAft>
                <a:spcPts val="800"/>
              </a:spcAft>
              <a:buSzPct val="100000"/>
              <a:buChar char="•"/>
            </a:pPr>
            <a:r>
              <a:rPr lang="en-US" sz="1250" dirty="0">
                <a:solidFill>
                  <a:srgbClr val="1A1A1A"/>
                </a:solidFill>
                <a:latin typeface="Calibri" pitchFamily="34" charset="0"/>
                <a:ea typeface="Calibri" pitchFamily="34" charset="-122"/>
                <a:cs typeface="Calibri" pitchFamily="34" charset="-120"/>
              </a:rPr>
              <a:t>Any past batch can be re-scored with any model version.</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PRODUCTION ARCHITECTURE</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22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Technology choices: the trade-offs</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3840480"/>
        </p:xfrm>
        <a:graphic>
          <a:graphicData uri="http://schemas.openxmlformats.org/drawingml/2006/table">
            <a:tbl>
              <a:tblPr/>
              <a:tblGrid>
                <a:gridCol w="20116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4114800">
                  <a:extLst>
                    <a:ext uri="{9D8B030D-6E8A-4147-A177-3AD203B41FA5}">
                      <a16:colId xmlns:a16="http://schemas.microsoft.com/office/drawing/2014/main" val="20003"/>
                    </a:ext>
                  </a:extLst>
                </a:gridCol>
              </a:tblGrid>
              <a:tr h="54864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Decision</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Choice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Alternative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Why this way</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Serving</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Daily batch</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Streaming</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Post-event problem, so batch is simpler with no train/serve skew</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Compute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SageMaker</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EKS with Kubeflow</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Managed, minimal ops for a small team</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Registry</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MLflow, self-hosted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SageMaker Model Registry</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One tool for tracking and registry, portable, team standard</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Feature compute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Glue / EMR Serverless</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Pandas on a big box</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Scales past 10x volume, serverless</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4"/>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Feature storage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S3 table plus shared code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SageMaker Feature Store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Batch-only, so parity without the infrastructure</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Case management</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Buy</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Build a UI</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tc>
                  <a:txBody>
                    <a:bodyPr/>
                    <a:lstStyle/>
                    <a:p>
                      <a:pPr marL="0" indent="0">
                        <a:buNone/>
                      </a:pPr>
                      <a:r>
                        <a:rPr lang="en-US" sz="1050" dirty="0">
                          <a:solidFill>
                            <a:srgbClr val="1A1A1A"/>
                          </a:solidFill>
                          <a:latin typeface="Calibri" pitchFamily="34" charset="0"/>
                          <a:ea typeface="Calibri" pitchFamily="34" charset="-122"/>
                          <a:cs typeface="Calibri" pitchFamily="34" charset="-120"/>
                        </a:rPr>
                        <a:t>Not the differentiation, and it fits the investigator workflow</a:t>
                      </a:r>
                      <a:endParaRPr lang="en-US" sz="1050" dirty="0">
                        <a:latin typeface="Calibri" charset="0"/>
                        <a:ea typeface="Calibri" charset="0"/>
                        <a:cs typeface="Calibri" charset="0"/>
                      </a:endParaRPr>
                    </a:p>
                  </a:txBody>
                  <a:tcPr anchor="ctr">
                    <a:lnL w="12700" cap="flat" cmpd="sng" algn="ctr">
                      <a:solidFill>
                        <a:srgbClr val="E4E1DF"/>
                      </a:solidFill>
                      <a:prstDash val="solid"/>
                      <a:round/>
                      <a:headEnd type="none" w="med" len="med"/>
                      <a:tailEnd type="none" w="med" len="med"/>
                    </a:lnL>
                    <a:lnR w="12700" cap="flat" cmpd="sng" algn="ctr">
                      <a:solidFill>
                        <a:srgbClr val="E4E1DF"/>
                      </a:solidFill>
                      <a:prstDash val="solid"/>
                      <a:round/>
                      <a:headEnd type="none" w="med" len="med"/>
                      <a:tailEnd type="none" w="med" len="med"/>
                    </a:lnR>
                    <a:lnT w="12700" cap="flat" cmpd="sng" algn="ctr">
                      <a:solidFill>
                        <a:srgbClr val="E4E1DF"/>
                      </a:solidFill>
                      <a:prstDash val="solid"/>
                      <a:round/>
                      <a:headEnd type="none" w="med" len="med"/>
                      <a:tailEnd type="none" w="med" len="med"/>
                    </a:lnT>
                    <a:lnB w="12700" cap="flat" cmpd="sng" algn="ctr">
                      <a:solidFill>
                        <a:srgbClr val="E4E1D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384048" cy="384048"/>
          </a:xfrm>
          <a:prstGeom prst="ellipse">
            <a:avLst/>
          </a:prstGeom>
          <a:solidFill>
            <a:srgbClr val="F0523C"/>
          </a:solidFill>
          <a:ln/>
        </p:spPr>
        <p:txBody>
          <a:bodyPr/>
          <a:lstStyle/>
          <a:p>
            <a:endParaRPr lang="en-DE"/>
          </a:p>
        </p:txBody>
      </p:sp>
      <p:sp>
        <p:nvSpPr>
          <p:cNvPr id="3" name="Text 1"/>
          <p:cNvSpPr txBox="1"/>
          <p:nvPr/>
        </p:nvSpPr>
        <p:spPr>
          <a:xfrm>
            <a:off x="548640" y="4572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051560" y="457200"/>
            <a:ext cx="10561320" cy="384048"/>
          </a:xfrm>
          <a:prstGeom prst="rect">
            <a:avLst/>
          </a:prstGeom>
          <a:noFill/>
          <a:ln/>
        </p:spPr>
        <p:txBody>
          <a:bodyPr wrap="square" lIns="0" tIns="0" rIns="0" bIns="0" rtlCol="0" anchor="ctr"/>
          <a:lstStyle/>
          <a:p>
            <a:pPr marL="0" indent="0">
              <a:buNone/>
            </a:pPr>
            <a:r>
              <a:rPr lang="en-US" sz="1200" b="1" kern="0" spc="200" dirty="0">
                <a:solidFill>
                  <a:srgbClr val="6E6E6E"/>
                </a:solidFill>
                <a:latin typeface="Calibri" pitchFamily="34" charset="0"/>
                <a:ea typeface="Calibri" pitchFamily="34" charset="-122"/>
                <a:cs typeface="Calibri" pitchFamily="34" charset="-120"/>
              </a:rPr>
              <a:t>DELIVERY</a:t>
            </a:r>
            <a:endParaRPr lang="en-US" sz="1200" dirty="0"/>
          </a:p>
        </p:txBody>
      </p:sp>
      <p:sp>
        <p:nvSpPr>
          <p:cNvPr id="5" name="Text 3"/>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B3ADA9"/>
                </a:solidFill>
                <a:latin typeface="Calibri" pitchFamily="34" charset="0"/>
                <a:ea typeface="Calibri" pitchFamily="34" charset="-122"/>
                <a:cs typeface="Calibri" pitchFamily="34" charset="-120"/>
              </a:rPr>
              <a:t>23 / 25</a:t>
            </a:r>
            <a:endParaRPr lang="en-US" sz="900" dirty="0"/>
          </a:p>
        </p:txBody>
      </p:sp>
      <p:sp>
        <p:nvSpPr>
          <p:cNvPr id="6" name="Text 4"/>
          <p:cNvSpPr txBox="1"/>
          <p:nvPr/>
        </p:nvSpPr>
        <p:spPr>
          <a:xfrm>
            <a:off x="548640" y="960120"/>
            <a:ext cx="11064240" cy="822960"/>
          </a:xfrm>
          <a:prstGeom prst="rect">
            <a:avLst/>
          </a:prstGeom>
          <a:noFill/>
          <a:ln/>
        </p:spPr>
        <p:txBody>
          <a:bodyPr wrap="square" lIns="0" tIns="0" rIns="0" bIns="0" rtlCol="0" anchor="ctr"/>
          <a:lstStyle/>
          <a:p>
            <a:pPr marL="0" indent="0">
              <a:buNone/>
            </a:pPr>
            <a:r>
              <a:rPr lang="en-US" sz="2700" b="1" dirty="0">
                <a:solidFill>
                  <a:srgbClr val="1A1A1A"/>
                </a:solidFill>
                <a:latin typeface="Arial" pitchFamily="34" charset="0"/>
                <a:ea typeface="Arial" pitchFamily="34" charset="-122"/>
                <a:cs typeface="Arial" pitchFamily="34" charset="-120"/>
              </a:rPr>
              <a:t>From proof of concept to production over 3, 6 and 9 months</a:t>
            </a:r>
            <a:endParaRPr lang="en-US" sz="2700" dirty="0"/>
          </a:p>
        </p:txBody>
      </p:sp>
      <p:sp>
        <p:nvSpPr>
          <p:cNvPr id="7" name="Text 5"/>
          <p:cNvSpPr txBox="1"/>
          <p:nvPr/>
        </p:nvSpPr>
        <p:spPr>
          <a:xfrm>
            <a:off x="548640" y="1783080"/>
            <a:ext cx="11064240" cy="640080"/>
          </a:xfrm>
          <a:prstGeom prst="rect">
            <a:avLst/>
          </a:prstGeom>
          <a:noFill/>
          <a:ln/>
        </p:spPr>
        <p:txBody>
          <a:bodyPr wrap="square" lIns="0" tIns="0" rIns="0" bIns="0" rtlCol="0" anchor="ctr"/>
          <a:lstStyle/>
          <a:p>
            <a:pPr marL="0" indent="0">
              <a:buNone/>
            </a:pPr>
            <a:r>
              <a:rPr lang="en-US" sz="1200" i="1" dirty="0">
                <a:solidFill>
                  <a:srgbClr val="6E6E6E"/>
                </a:solidFill>
                <a:latin typeface="Calibri" pitchFamily="34" charset="0"/>
                <a:ea typeface="Calibri" pitchFamily="34" charset="-122"/>
                <a:cs typeface="Calibri" pitchFamily="34" charset="-120"/>
              </a:rPr>
              <a:t>The model never replaces the rules outright: shadow, then parallel, then staged retirement.</a:t>
            </a:r>
            <a:endParaRPr lang="en-US" sz="1200" dirty="0"/>
          </a:p>
        </p:txBody>
      </p:sp>
      <p:sp>
        <p:nvSpPr>
          <p:cNvPr id="8" name="Shape 6"/>
          <p:cNvSpPr/>
          <p:nvPr/>
        </p:nvSpPr>
        <p:spPr>
          <a:xfrm>
            <a:off x="548640" y="2560320"/>
            <a:ext cx="3505200" cy="3383280"/>
          </a:xfrm>
          <a:prstGeom prst="roundRect">
            <a:avLst>
              <a:gd name="adj" fmla="val 1622"/>
            </a:avLst>
          </a:prstGeom>
          <a:solidFill>
            <a:srgbClr val="F6F3F2"/>
          </a:solidFill>
          <a:ln w="12700">
            <a:solidFill>
              <a:srgbClr val="E4E1DF"/>
            </a:solidFill>
            <a:prstDash val="solid"/>
          </a:ln>
        </p:spPr>
        <p:txBody>
          <a:bodyPr/>
          <a:lstStyle/>
          <a:p>
            <a:endParaRPr lang="en-DE"/>
          </a:p>
        </p:txBody>
      </p:sp>
      <p:sp>
        <p:nvSpPr>
          <p:cNvPr id="9" name="Text 7"/>
          <p:cNvSpPr txBox="1"/>
          <p:nvPr/>
        </p:nvSpPr>
        <p:spPr>
          <a:xfrm>
            <a:off x="777240" y="2743200"/>
            <a:ext cx="3048000" cy="64008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0 to 3 months: make it trustworthy</a:t>
            </a:r>
            <a:endParaRPr lang="en-US" sz="1200" dirty="0"/>
          </a:p>
        </p:txBody>
      </p:sp>
      <p:sp>
        <p:nvSpPr>
          <p:cNvPr id="10" name="Text 8"/>
          <p:cNvSpPr txBox="1"/>
          <p:nvPr/>
        </p:nvSpPr>
        <p:spPr>
          <a:xfrm>
            <a:off x="740664" y="2880360"/>
            <a:ext cx="3048000" cy="27432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Reliable pipeline and data validation</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model, fully monitored</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Shadow mode, action nothing</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Baselines agreed with compliance</a:t>
            </a:r>
            <a:endParaRPr lang="en-US" sz="1050" dirty="0">
              <a:solidFill>
                <a:srgbClr val="1A1A1A"/>
              </a:solidFill>
              <a:latin typeface="Calibri" pitchFamily="34" charset="0"/>
              <a:cs typeface="Calibri" pitchFamily="34" charset="-120"/>
            </a:endParaRPr>
          </a:p>
          <a:p>
            <a:pPr marL="342900" indent="-342900">
              <a:spcAft>
                <a:spcPts val="600"/>
              </a:spcAft>
              <a:buSzPct val="100000"/>
              <a:buChar char="•"/>
            </a:pPr>
            <a:endParaRPr lang="en-US" sz="1050" dirty="0"/>
          </a:p>
          <a:p>
            <a:pPr marL="0" indent="0">
              <a:spcBef>
                <a:spcPts val="600"/>
              </a:spcBef>
              <a:buNone/>
            </a:pPr>
            <a:r>
              <a:rPr lang="en-US" sz="1050" i="1" dirty="0">
                <a:solidFill>
                  <a:srgbClr val="6E6E6E"/>
                </a:solidFill>
                <a:latin typeface="Calibri" pitchFamily="34" charset="0"/>
                <a:ea typeface="Calibri" pitchFamily="34" charset="-122"/>
                <a:cs typeface="Calibri" pitchFamily="34" charset="-120"/>
              </a:rPr>
              <a:t>You cannot operate, or get sign-off for, a control you cannot see.</a:t>
            </a:r>
            <a:endParaRPr lang="en-US" sz="1050" dirty="0"/>
          </a:p>
        </p:txBody>
      </p:sp>
      <p:sp>
        <p:nvSpPr>
          <p:cNvPr id="11" name="Shape 9"/>
          <p:cNvSpPr/>
          <p:nvPr/>
        </p:nvSpPr>
        <p:spPr>
          <a:xfrm>
            <a:off x="4328160" y="2560320"/>
            <a:ext cx="3505200" cy="3383280"/>
          </a:xfrm>
          <a:prstGeom prst="roundRect">
            <a:avLst>
              <a:gd name="adj" fmla="val 1622"/>
            </a:avLst>
          </a:prstGeom>
          <a:solidFill>
            <a:srgbClr val="FFFFFF"/>
          </a:solidFill>
          <a:ln w="12700">
            <a:solidFill>
              <a:srgbClr val="E4E1DF"/>
            </a:solidFill>
            <a:prstDash val="solid"/>
          </a:ln>
        </p:spPr>
        <p:txBody>
          <a:bodyPr/>
          <a:lstStyle/>
          <a:p>
            <a:endParaRPr lang="en-DE"/>
          </a:p>
        </p:txBody>
      </p:sp>
      <p:sp>
        <p:nvSpPr>
          <p:cNvPr id="12" name="Text 10"/>
          <p:cNvSpPr txBox="1"/>
          <p:nvPr/>
        </p:nvSpPr>
        <p:spPr>
          <a:xfrm>
            <a:off x="4556760" y="2743200"/>
            <a:ext cx="3048000" cy="64008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3 to 6 months: make it self-sustaining</a:t>
            </a:r>
            <a:endParaRPr lang="en-US" sz="1200" dirty="0"/>
          </a:p>
        </p:txBody>
      </p:sp>
      <p:sp>
        <p:nvSpPr>
          <p:cNvPr id="13" name="Text 11"/>
          <p:cNvSpPr txBox="1"/>
          <p:nvPr/>
        </p:nvSpPr>
        <p:spPr>
          <a:xfrm>
            <a:off x="4556760" y="2780270"/>
            <a:ext cx="3048000" cy="27432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Automated retraining with challengers</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Investigator feedback loop for labels</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Reservoir sampling for unbiased recall</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Run in parallel with rules</a:t>
            </a:r>
          </a:p>
          <a:p>
            <a:pPr marL="342900" indent="-342900">
              <a:spcAft>
                <a:spcPts val="600"/>
              </a:spcAft>
              <a:buSzPct val="100000"/>
              <a:buChar char="•"/>
            </a:pPr>
            <a:endParaRPr lang="en-US" sz="1050" dirty="0"/>
          </a:p>
          <a:p>
            <a:pPr marL="0" indent="0">
              <a:spcBef>
                <a:spcPts val="600"/>
              </a:spcBef>
              <a:buNone/>
            </a:pPr>
            <a:r>
              <a:rPr lang="en-US" sz="1050" i="1" dirty="0">
                <a:solidFill>
                  <a:srgbClr val="6E6E6E"/>
                </a:solidFill>
                <a:latin typeface="Calibri" pitchFamily="34" charset="0"/>
                <a:ea typeface="Calibri" pitchFamily="34" charset="-122"/>
                <a:cs typeface="Calibri" pitchFamily="34" charset="-120"/>
              </a:rPr>
              <a:t>Label lag is months, so the feedback loop must start early.</a:t>
            </a:r>
            <a:endParaRPr lang="en-US" sz="1050" dirty="0"/>
          </a:p>
        </p:txBody>
      </p:sp>
      <p:sp>
        <p:nvSpPr>
          <p:cNvPr id="14" name="Shape 12"/>
          <p:cNvSpPr/>
          <p:nvPr/>
        </p:nvSpPr>
        <p:spPr>
          <a:xfrm>
            <a:off x="8107680" y="2560320"/>
            <a:ext cx="3505200" cy="3383280"/>
          </a:xfrm>
          <a:prstGeom prst="roundRect">
            <a:avLst>
              <a:gd name="adj" fmla="val 1622"/>
            </a:avLst>
          </a:prstGeom>
          <a:solidFill>
            <a:srgbClr val="FFFFFF"/>
          </a:solidFill>
          <a:ln w="12700">
            <a:solidFill>
              <a:srgbClr val="E4E1DF"/>
            </a:solidFill>
            <a:prstDash val="solid"/>
          </a:ln>
        </p:spPr>
        <p:txBody>
          <a:bodyPr/>
          <a:lstStyle/>
          <a:p>
            <a:endParaRPr lang="en-DE"/>
          </a:p>
        </p:txBody>
      </p:sp>
      <p:sp>
        <p:nvSpPr>
          <p:cNvPr id="15" name="Text 13"/>
          <p:cNvSpPr txBox="1"/>
          <p:nvPr/>
        </p:nvSpPr>
        <p:spPr>
          <a:xfrm>
            <a:off x="8336280" y="2743200"/>
            <a:ext cx="3048000" cy="64008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6 to 9 months: make it better and auditable</a:t>
            </a:r>
            <a:endParaRPr lang="en-US" sz="1200" dirty="0"/>
          </a:p>
        </p:txBody>
      </p:sp>
      <p:sp>
        <p:nvSpPr>
          <p:cNvPr id="16" name="Text 14"/>
          <p:cNvSpPr txBox="1"/>
          <p:nvPr/>
        </p:nvSpPr>
        <p:spPr>
          <a:xfrm>
            <a:off x="8336280" y="2718486"/>
            <a:ext cx="3048000" cy="27432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Graph features and typology models</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Per-corridor thresholds</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Full model cards, annual validation</a:t>
            </a:r>
            <a:endParaRPr lang="en-US" sz="1050" dirty="0"/>
          </a:p>
          <a:p>
            <a:pPr marL="342900" indent="-342900">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Staged rules retirement</a:t>
            </a:r>
          </a:p>
          <a:p>
            <a:pPr marL="342900" indent="-342900">
              <a:spcAft>
                <a:spcPts val="600"/>
              </a:spcAft>
              <a:buSzPct val="100000"/>
              <a:buChar char="•"/>
            </a:pPr>
            <a:endParaRPr lang="en-US" sz="1050" dirty="0"/>
          </a:p>
          <a:p>
            <a:pPr marL="0" indent="0">
              <a:spcBef>
                <a:spcPts val="600"/>
              </a:spcBef>
              <a:buNone/>
            </a:pPr>
            <a:r>
              <a:rPr lang="en-US" sz="1050" i="1" dirty="0">
                <a:solidFill>
                  <a:srgbClr val="6E6E6E"/>
                </a:solidFill>
                <a:latin typeface="Calibri" pitchFamily="34" charset="0"/>
                <a:ea typeface="Calibri" pitchFamily="34" charset="-122"/>
                <a:cs typeface="Calibri" pitchFamily="34" charset="-120"/>
              </a:rPr>
              <a:t>The lowest-risk work, and only after the foundations hold.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1A1A"/>
        </a:solidFill>
        <a:effectLst/>
      </p:bgPr>
    </p:bg>
    <p:spTree>
      <p:nvGrpSpPr>
        <p:cNvPr id="1" name=""/>
        <p:cNvGrpSpPr/>
        <p:nvPr/>
      </p:nvGrpSpPr>
      <p:grpSpPr>
        <a:xfrm>
          <a:off x="0" y="0"/>
          <a:ext cx="0" cy="0"/>
          <a:chOff x="0" y="0"/>
          <a:chExt cx="0" cy="0"/>
        </a:xfrm>
      </p:grpSpPr>
      <p:sp>
        <p:nvSpPr>
          <p:cNvPr id="2" name="Text 0"/>
          <p:cNvSpPr txBox="1"/>
          <p:nvPr/>
        </p:nvSpPr>
        <p:spPr>
          <a:xfrm>
            <a:off x="10881360" y="6473952"/>
            <a:ext cx="1051560" cy="274320"/>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24 / 25</a:t>
            </a:r>
            <a:endParaRPr lang="en-US" sz="900" dirty="0"/>
          </a:p>
        </p:txBody>
      </p:sp>
      <p:sp>
        <p:nvSpPr>
          <p:cNvPr id="3" name="Shape 1"/>
          <p:cNvSpPr/>
          <p:nvPr/>
        </p:nvSpPr>
        <p:spPr>
          <a:xfrm>
            <a:off x="-1828800" y="4023360"/>
            <a:ext cx="5029200" cy="5029200"/>
          </a:xfrm>
          <a:prstGeom prst="ellipse">
            <a:avLst/>
          </a:prstGeom>
          <a:solidFill>
            <a:srgbClr val="0F0F0F"/>
          </a:solidFill>
          <a:ln/>
        </p:spPr>
        <p:txBody>
          <a:bodyPr/>
          <a:lstStyle/>
          <a:p>
            <a:endParaRPr lang="en-DE"/>
          </a:p>
        </p:txBody>
      </p:sp>
      <p:sp>
        <p:nvSpPr>
          <p:cNvPr id="4" name="Text 2"/>
          <p:cNvSpPr txBox="1"/>
          <p:nvPr/>
        </p:nvSpPr>
        <p:spPr>
          <a:xfrm>
            <a:off x="548640" y="731520"/>
            <a:ext cx="11064240" cy="731520"/>
          </a:xfrm>
          <a:prstGeom prst="rect">
            <a:avLst/>
          </a:prstGeom>
          <a:noFill/>
          <a:ln/>
        </p:spPr>
        <p:txBody>
          <a:bodyPr wrap="square" lIns="0" tIns="0" rIns="0" bIns="0" rtlCol="0" anchor="ctr"/>
          <a:lstStyle/>
          <a:p>
            <a:pPr marL="0" indent="0">
              <a:buNone/>
            </a:pPr>
            <a:r>
              <a:rPr lang="en-US" sz="2800" b="1" dirty="0">
                <a:solidFill>
                  <a:srgbClr val="FFFFFF"/>
                </a:solidFill>
                <a:latin typeface="Arial" pitchFamily="34" charset="0"/>
                <a:ea typeface="Arial" pitchFamily="34" charset="-122"/>
                <a:cs typeface="Arial" pitchFamily="34" charset="-120"/>
              </a:rPr>
              <a:t>What I would want you to take away</a:t>
            </a:r>
            <a:endParaRPr lang="en-US" sz="2800" dirty="0"/>
          </a:p>
        </p:txBody>
      </p:sp>
      <p:sp>
        <p:nvSpPr>
          <p:cNvPr id="5" name="Text 3"/>
          <p:cNvSpPr txBox="1"/>
          <p:nvPr/>
        </p:nvSpPr>
        <p:spPr>
          <a:xfrm>
            <a:off x="548640" y="1645920"/>
            <a:ext cx="7589520" cy="347472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50" dirty="0">
                <a:solidFill>
                  <a:srgbClr val="F6D9D2"/>
                </a:solidFill>
                <a:latin typeface="Calibri" pitchFamily="34" charset="0"/>
                <a:ea typeface="Calibri" pitchFamily="34" charset="-122"/>
                <a:cs typeface="Calibri" pitchFamily="34" charset="-120"/>
              </a:rPr>
              <a:t>Framed as alerting, not classification: recall at a fixed workload</a:t>
            </a:r>
            <a:endParaRPr lang="en-US" sz="1450" dirty="0"/>
          </a:p>
          <a:p>
            <a:pPr marL="342900" indent="-342900">
              <a:lnSpc>
                <a:spcPct val="110000"/>
              </a:lnSpc>
              <a:spcAft>
                <a:spcPts val="1000"/>
              </a:spcAft>
              <a:buSzPct val="100000"/>
              <a:buChar char="•"/>
            </a:pPr>
            <a:r>
              <a:rPr lang="en-US" sz="1450" dirty="0">
                <a:solidFill>
                  <a:srgbClr val="F6D9D2"/>
                </a:solidFill>
                <a:latin typeface="Calibri" pitchFamily="34" charset="0"/>
                <a:ea typeface="Calibri" pitchFamily="34" charset="-122"/>
                <a:cs typeface="Calibri" pitchFamily="34" charset="-120"/>
              </a:rPr>
              <a:t>Causal features, a temporal split, and imbalance treated as a threshold problem. </a:t>
            </a:r>
          </a:p>
          <a:p>
            <a:pPr marL="342900" indent="-342900">
              <a:lnSpc>
                <a:spcPct val="110000"/>
              </a:lnSpc>
              <a:spcAft>
                <a:spcPts val="1000"/>
              </a:spcAft>
              <a:buSzPct val="100000"/>
              <a:buChar char="•"/>
            </a:pPr>
            <a:r>
              <a:rPr lang="en-US" sz="1450" dirty="0">
                <a:solidFill>
                  <a:srgbClr val="F6D9D2"/>
                </a:solidFill>
                <a:latin typeface="Calibri" pitchFamily="34" charset="0"/>
                <a:ea typeface="Calibri" pitchFamily="34" charset="-122"/>
                <a:cs typeface="Calibri" pitchFamily="34" charset="-120"/>
              </a:rPr>
              <a:t>Each choice was tested against an alternative, not asserted.</a:t>
            </a:r>
            <a:endParaRPr lang="en-US" sz="1450" dirty="0"/>
          </a:p>
          <a:p>
            <a:pPr marL="342900" indent="-342900">
              <a:lnSpc>
                <a:spcPct val="110000"/>
              </a:lnSpc>
              <a:spcAft>
                <a:spcPts val="1000"/>
              </a:spcAft>
              <a:buSzPct val="100000"/>
              <a:buChar char="•"/>
            </a:pPr>
            <a:r>
              <a:rPr lang="en-US" sz="1450" dirty="0">
                <a:solidFill>
                  <a:srgbClr val="F6D9D2"/>
                </a:solidFill>
                <a:latin typeface="Calibri" pitchFamily="34" charset="0"/>
                <a:ea typeface="Calibri" pitchFamily="34" charset="-122"/>
                <a:cs typeface="Calibri" pitchFamily="34" charset="-120"/>
              </a:rPr>
              <a:t>Every alert is explained with SHAP, which a regulated control needs</a:t>
            </a:r>
            <a:endParaRPr lang="en-US" sz="1450" dirty="0"/>
          </a:p>
          <a:p>
            <a:pPr marL="342900" indent="-342900">
              <a:lnSpc>
                <a:spcPct val="110000"/>
              </a:lnSpc>
              <a:spcAft>
                <a:spcPts val="1000"/>
              </a:spcAft>
              <a:buSzPct val="100000"/>
              <a:buChar char="•"/>
            </a:pPr>
            <a:r>
              <a:rPr lang="en-US" sz="1450" dirty="0">
                <a:solidFill>
                  <a:srgbClr val="F6D9D2"/>
                </a:solidFill>
                <a:latin typeface="Calibri" pitchFamily="34" charset="0"/>
                <a:ea typeface="Calibri" pitchFamily="34" charset="-122"/>
                <a:cs typeface="Calibri" pitchFamily="34" charset="-120"/>
              </a:rPr>
              <a:t>The model decays measurably in 2 months, and </a:t>
            </a:r>
            <a:r>
              <a:rPr lang="en-US" sz="1450" dirty="0" err="1">
                <a:solidFill>
                  <a:srgbClr val="F6D9D2"/>
                </a:solidFill>
                <a:latin typeface="Calibri" pitchFamily="34" charset="0"/>
                <a:ea typeface="Calibri" pitchFamily="34" charset="-122"/>
                <a:cs typeface="Calibri" pitchFamily="34" charset="-120"/>
              </a:rPr>
              <a:t>MLOps</a:t>
            </a:r>
            <a:r>
              <a:rPr lang="en-US" sz="1450" dirty="0">
                <a:solidFill>
                  <a:srgbClr val="F6D9D2"/>
                </a:solidFill>
                <a:latin typeface="Calibri" pitchFamily="34" charset="0"/>
                <a:ea typeface="Calibri" pitchFamily="34" charset="-122"/>
                <a:cs typeface="Calibri" pitchFamily="34" charset="-120"/>
              </a:rPr>
              <a:t> makes that operable</a:t>
            </a:r>
            <a:endParaRPr lang="en-US" sz="1450" dirty="0"/>
          </a:p>
          <a:p>
            <a:pPr marL="342900" indent="-342900">
              <a:lnSpc>
                <a:spcPct val="110000"/>
              </a:lnSpc>
              <a:buSzPct val="100000"/>
              <a:buChar char="•"/>
            </a:pPr>
            <a:r>
              <a:rPr lang="en-US" sz="1450" dirty="0">
                <a:solidFill>
                  <a:srgbClr val="F6D9D2"/>
                </a:solidFill>
                <a:latin typeface="Calibri" pitchFamily="34" charset="0"/>
                <a:ea typeface="Calibri" pitchFamily="34" charset="-122"/>
                <a:cs typeface="Calibri" pitchFamily="34" charset="-120"/>
              </a:rPr>
              <a:t>The production seams are already in place: package, ADRs, MLflow, registry</a:t>
            </a:r>
            <a:endParaRPr lang="en-US" sz="1450" dirty="0"/>
          </a:p>
        </p:txBody>
      </p:sp>
      <p:sp>
        <p:nvSpPr>
          <p:cNvPr id="6" name="Text 4"/>
          <p:cNvSpPr txBox="1"/>
          <p:nvPr/>
        </p:nvSpPr>
        <p:spPr>
          <a:xfrm>
            <a:off x="8138160" y="4572000"/>
            <a:ext cx="3474720" cy="1005840"/>
          </a:xfrm>
          <a:prstGeom prst="rect">
            <a:avLst/>
          </a:prstGeom>
          <a:noFill/>
          <a:ln/>
        </p:spPr>
        <p:txBody>
          <a:bodyPr wrap="square" lIns="0" tIns="0" rIns="0" bIns="0" rtlCol="0" anchor="ctr"/>
          <a:lstStyle/>
          <a:p>
            <a:pPr marL="0" indent="0" algn="ctr">
              <a:buNone/>
            </a:pPr>
            <a:r>
              <a:rPr lang="en-US" sz="5400" b="1" dirty="0">
                <a:solidFill>
                  <a:srgbClr val="F0523C"/>
                </a:solidFill>
                <a:latin typeface="Arial" pitchFamily="34" charset="0"/>
                <a:ea typeface="Arial" pitchFamily="34" charset="-122"/>
                <a:cs typeface="Arial" pitchFamily="34" charset="-120"/>
              </a:rPr>
              <a:t>77%</a:t>
            </a:r>
            <a:endParaRPr lang="en-US" sz="5400" dirty="0"/>
          </a:p>
        </p:txBody>
      </p:sp>
      <p:sp>
        <p:nvSpPr>
          <p:cNvPr id="7" name="Text 5"/>
          <p:cNvSpPr txBox="1"/>
          <p:nvPr/>
        </p:nvSpPr>
        <p:spPr>
          <a:xfrm>
            <a:off x="8138160" y="5577840"/>
            <a:ext cx="3474720" cy="731520"/>
          </a:xfrm>
          <a:prstGeom prst="rect">
            <a:avLst/>
          </a:prstGeom>
          <a:noFill/>
          <a:ln/>
        </p:spPr>
        <p:txBody>
          <a:bodyPr wrap="square" lIns="0" tIns="0" rIns="0" bIns="0" rtlCol="0" anchor="ctr"/>
          <a:lstStyle/>
          <a:p>
            <a:pPr marL="0" indent="0" algn="ctr">
              <a:buNone/>
            </a:pPr>
            <a:r>
              <a:rPr lang="en-US" sz="1200" dirty="0">
                <a:solidFill>
                  <a:srgbClr val="F6D9D2"/>
                </a:solidFill>
                <a:latin typeface="Calibri" pitchFamily="34" charset="0"/>
                <a:ea typeface="Calibri" pitchFamily="34" charset="-122"/>
                <a:cs typeface="Calibri" pitchFamily="34" charset="-120"/>
              </a:rPr>
              <a:t>of laundering caught</a:t>
            </a:r>
            <a:endParaRPr lang="en-US" sz="1200" dirty="0"/>
          </a:p>
          <a:p>
            <a:pPr marL="0" indent="0" algn="ctr">
              <a:buNone/>
            </a:pPr>
            <a:r>
              <a:rPr lang="en-US" sz="1200" dirty="0">
                <a:solidFill>
                  <a:srgbClr val="F6D9D2"/>
                </a:solidFill>
                <a:latin typeface="Calibri" pitchFamily="34" charset="0"/>
                <a:ea typeface="Calibri" pitchFamily="34" charset="-122"/>
                <a:cs typeface="Calibri" pitchFamily="34" charset="-120"/>
              </a:rPr>
              <a:t>at about 400 alerts per day</a:t>
            </a:r>
            <a:endParaRPr lang="en-US" sz="1200" dirty="0"/>
          </a:p>
        </p:txBody>
      </p:sp>
      <p:sp>
        <p:nvSpPr>
          <p:cNvPr id="8" name="Text 6"/>
          <p:cNvSpPr txBox="1"/>
          <p:nvPr/>
        </p:nvSpPr>
        <p:spPr>
          <a:xfrm>
            <a:off x="7680960" y="6291072"/>
            <a:ext cx="4480560" cy="320040"/>
          </a:xfrm>
          <a:prstGeom prst="rect">
            <a:avLst/>
          </a:prstGeom>
          <a:noFill/>
          <a:ln/>
        </p:spPr>
        <p:txBody>
          <a:bodyPr wrap="square" lIns="0" tIns="0" rIns="0" bIns="0" rtlCol="0" anchor="ctr"/>
          <a:lstStyle/>
          <a:p>
            <a:pPr marL="0" indent="0" algn="ctr">
              <a:buNone/>
            </a:pPr>
            <a:r>
              <a:rPr lang="en-US" sz="850" dirty="0">
                <a:solidFill>
                  <a:srgbClr val="9A9A9A"/>
                </a:solidFill>
                <a:latin typeface="Calibri" pitchFamily="34" charset="0"/>
                <a:ea typeface="Calibri" pitchFamily="34" charset="-122"/>
                <a:cs typeface="Calibri" pitchFamily="34" charset="-120"/>
              </a:rPr>
              <a:t>recall at the 1% validation budget, applied to held-out test (1390 of 1813)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9052560" y="-1737360"/>
            <a:ext cx="5486400" cy="5486400"/>
          </a:xfrm>
          <a:prstGeom prst="ellipse">
            <a:avLst/>
          </a:prstGeom>
          <a:solidFill>
            <a:srgbClr val="0F0F0F"/>
          </a:solidFill>
          <a:ln/>
        </p:spPr>
        <p:txBody>
          <a:bodyPr/>
          <a:lstStyle/>
          <a:p>
            <a:endParaRPr lang="en-DE"/>
          </a:p>
        </p:txBody>
      </p:sp>
      <p:sp>
        <p:nvSpPr>
          <p:cNvPr id="3" name="Shape 1"/>
          <p:cNvSpPr/>
          <p:nvPr/>
        </p:nvSpPr>
        <p:spPr>
          <a:xfrm>
            <a:off x="10607040" y="4572000"/>
            <a:ext cx="2743200" cy="2743200"/>
          </a:xfrm>
          <a:prstGeom prst="ellipse">
            <a:avLst/>
          </a:prstGeom>
          <a:solidFill>
            <a:srgbClr val="F0523C"/>
          </a:solidFill>
          <a:ln/>
        </p:spPr>
        <p:txBody>
          <a:bodyPr/>
          <a:lstStyle/>
          <a:p>
            <a:endParaRPr lang="en-DE"/>
          </a:p>
        </p:txBody>
      </p:sp>
      <p:sp>
        <p:nvSpPr>
          <p:cNvPr id="4" name="Text 2"/>
          <p:cNvSpPr txBox="1"/>
          <p:nvPr/>
        </p:nvSpPr>
        <p:spPr>
          <a:xfrm>
            <a:off x="548640" y="2331720"/>
            <a:ext cx="8412480" cy="1051560"/>
          </a:xfrm>
          <a:prstGeom prst="rect">
            <a:avLst/>
          </a:prstGeom>
          <a:noFill/>
          <a:ln/>
        </p:spPr>
        <p:txBody>
          <a:bodyPr wrap="square" lIns="0" tIns="0" rIns="0" bIns="0" rtlCol="0" anchor="ctr"/>
          <a:lstStyle/>
          <a:p>
            <a:pPr marL="0" indent="0">
              <a:buNone/>
            </a:pPr>
            <a:r>
              <a:rPr lang="en-US" sz="4600" b="1" dirty="0">
                <a:solidFill>
                  <a:srgbClr val="FFFFFF"/>
                </a:solidFill>
                <a:latin typeface="Arial" pitchFamily="34" charset="0"/>
                <a:ea typeface="Arial" pitchFamily="34" charset="-122"/>
                <a:cs typeface="Arial" pitchFamily="34" charset="-120"/>
              </a:rPr>
              <a:t>Thank you</a:t>
            </a:r>
            <a:endParaRPr lang="en-US" sz="4600" dirty="0"/>
          </a:p>
        </p:txBody>
      </p:sp>
      <p:sp>
        <p:nvSpPr>
          <p:cNvPr id="5" name="Text 3"/>
          <p:cNvSpPr txBox="1"/>
          <p:nvPr/>
        </p:nvSpPr>
        <p:spPr>
          <a:xfrm>
            <a:off x="548640" y="3566160"/>
            <a:ext cx="8412480" cy="548640"/>
          </a:xfrm>
          <a:prstGeom prst="rect">
            <a:avLst/>
          </a:prstGeom>
          <a:noFill/>
          <a:ln/>
        </p:spPr>
        <p:txBody>
          <a:bodyPr wrap="square" lIns="0" tIns="0" rIns="0" bIns="0" rtlCol="0" anchor="ctr"/>
          <a:lstStyle/>
          <a:p>
            <a:pPr marL="0" indent="0">
              <a:buNone/>
            </a:pPr>
            <a:r>
              <a:rPr lang="en-US" sz="1700" dirty="0">
                <a:solidFill>
                  <a:srgbClr val="F6D9D2"/>
                </a:solidFill>
                <a:latin typeface="Calibri" pitchFamily="34" charset="0"/>
                <a:ea typeface="Calibri" pitchFamily="34" charset="-122"/>
                <a:cs typeface="Calibri" pitchFamily="34" charset="-120"/>
              </a:rPr>
              <a:t>Questions and discussion</a:t>
            </a:r>
            <a:endParaRPr lang="en-US" sz="1700" dirty="0"/>
          </a:p>
        </p:txBody>
      </p:sp>
      <p:sp>
        <p:nvSpPr>
          <p:cNvPr id="6" name="Text 4"/>
          <p:cNvSpPr txBox="1"/>
          <p:nvPr/>
        </p:nvSpPr>
        <p:spPr>
          <a:xfrm>
            <a:off x="548640" y="4983480"/>
            <a:ext cx="5486400" cy="41148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Hafeez Ullah</a:t>
            </a:r>
            <a:endParaRPr lang="en-US" sz="1500" dirty="0"/>
          </a:p>
        </p:txBody>
      </p:sp>
      <p:sp>
        <p:nvSpPr>
          <p:cNvPr id="7" name="Shape 5"/>
          <p:cNvSpPr/>
          <p:nvPr/>
        </p:nvSpPr>
        <p:spPr>
          <a:xfrm>
            <a:off x="576072" y="5486400"/>
            <a:ext cx="2743200" cy="0"/>
          </a:xfrm>
          <a:prstGeom prst="line">
            <a:avLst/>
          </a:prstGeom>
          <a:noFill/>
          <a:ln w="25400">
            <a:solidFill>
              <a:srgbClr val="F0523C"/>
            </a:solidFill>
            <a:prstDash val="solid"/>
          </a:ln>
        </p:spPr>
        <p:txBody>
          <a:bodyPr/>
          <a:lstStyle/>
          <a:p>
            <a:endParaRPr lang="en-DE"/>
          </a:p>
        </p:txBody>
      </p:sp>
      <p:sp>
        <p:nvSpPr>
          <p:cNvPr id="8" name="Text 6"/>
          <p:cNvSpPr txBox="1"/>
          <p:nvPr/>
        </p:nvSpPr>
        <p:spPr>
          <a:xfrm>
            <a:off x="548640" y="5596128"/>
            <a:ext cx="7315200" cy="365760"/>
          </a:xfrm>
          <a:prstGeom prst="rect">
            <a:avLst/>
          </a:prstGeom>
          <a:noFill/>
          <a:ln/>
        </p:spPr>
        <p:txBody>
          <a:bodyPr wrap="square" lIns="0" tIns="0" rIns="0" bIns="0" rtlCol="0" anchor="ctr"/>
          <a:lstStyle/>
          <a:p>
            <a:pPr marL="0" indent="0">
              <a:buNone/>
            </a:pPr>
            <a:r>
              <a:rPr lang="en-US" sz="1200" dirty="0">
                <a:solidFill>
                  <a:srgbClr val="6E6E6E"/>
                </a:solidFill>
                <a:latin typeface="Calibri" pitchFamily="34" charset="0"/>
                <a:ea typeface="Calibri" pitchFamily="34" charset="-122"/>
                <a:cs typeface="Calibri" pitchFamily="34" charset="-120"/>
              </a:rPr>
              <a:t>AML Transaction Monitoring  ·  Enfuce technical case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TotalTime>
  <Words>4925</Words>
  <Application>Microsoft Macintosh PowerPoint</Application>
  <PresentationFormat>Widescreen</PresentationFormat>
  <Paragraphs>521</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Taha Bumin Aydos</cp:lastModifiedBy>
  <cp:revision>41</cp:revision>
  <dcterms:created xsi:type="dcterms:W3CDTF">2026-09-03T09:34:37Z</dcterms:created>
  <dcterms:modified xsi:type="dcterms:W3CDTF">2026-09-03T11:06:34Z</dcterms:modified>
</cp:coreProperties>
</file>